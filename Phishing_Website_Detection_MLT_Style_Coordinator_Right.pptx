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3" r:id="rId24"/>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c310e0e-5289-c44c-a027-c6ef5838bc5d}">
          <p14:sldIdLst>
            <p14:sldId id="257"/>
            <p14:sldId id="258"/>
          </p14:sldIdLst>
        </p14:section>
        <p14:section name="System Design" id="{0a43ab31-488d-a710-bfb4-d09d311658c5}">
          <p14:sldIdLst>
            <p14:sldId id="259"/>
          </p14:sldIdLst>
        </p14:section>
        <p14:section name="Literature Survey" id="{af6c9b38-1f1e-bc55-eb39-586df9032443}">
          <p14:sldIdLst>
            <p14:sldId id="261"/>
            <p14:sldId id="262"/>
            <p14:sldId id="263"/>
            <p14:sldId id="264"/>
            <p14:sldId id="265"/>
          </p14:sldIdLst>
        </p14:section>
        <p14:section name="Default-1" id="{29637664-c533-6461-c0e2-6a1077c49015}">
          <p14:sldIdLst>
            <p14:sldId id="260"/>
          </p14:sldIdLst>
        </p14:section>
        <p14:section name="Methodology" id="{d6ee9250-37db-0c3f-e73a-a7cbb9ca01fc}">
          <p14:sldIdLst>
            <p14:sldId id="267"/>
            <p14:sldId id="268"/>
            <p14:sldId id="269"/>
          </p14:sldIdLst>
        </p14:section>
        <p14:section name="Default-2" id="{8f1b634d-8158-b829-ded0-1e7a319d6fd5}">
          <p14:sldIdLst>
            <p14:sldId id="266"/>
          </p14:sldIdLst>
        </p14:section>
        <p14:section name="Implementation" id="{fe66905a-6cb1-4c20-7637-10c1c3fb922e}">
          <p14:sldIdLst>
            <p14:sldId id="270"/>
          </p14:sldIdLst>
        </p14:section>
        <p14:section name="System Modules" id="{616e3436-f2f6-076e-4238-cd3ffbc38d5a}">
          <p14:sldIdLst>
            <p14:sldId id="271"/>
          </p14:sldIdLst>
        </p14:section>
        <p14:section name="Conclusion" id="{fb95caf7-0dd2-ad54-b909-f00aea24a0a1}">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1F3A"/>
                </a:solidFill>
                <a:latin typeface="Calibri"/>
              </a:defRPr>
            </a:pPr>
            <a:r>
              <a:rPr sz="1300" b="0" i="0" u="none" strike="noStrike">
                <a:solidFill>
                  <a:srgbClr val="0B1F3A"/>
                </a:solidFill>
                <a:latin typeface="Calibri"/>
              </a:rPr>
              <a:t>Representative Accuracy Across Studies Reviewed</a:t>
            </a:r>
          </a:p>
        </c:rich>
      </c:tx>
      <c:layout/>
      <c:overlay val="0"/>
    </c:title>
    <c:autoTitleDeleted val="0"/>
    <c:plotArea>
      <c:layout/>
      <c:barChart>
        <c:barDir val="col"/>
        <c:grouping val="clustered"/>
        <c:varyColors val="0"/>
        <c:ser>
          <c:idx val="0"/>
          <c:order val="0"/>
          <c:tx>
            <c:strRef>
              <c:f>Sheet1!$B$1</c:f>
              <c:strCache>
                <c:ptCount val="1"/>
                <c:pt idx="0">
                  <c:v>Reported Accuracy (%)</c:v>
                </c:pt>
              </c:strCache>
            </c:strRef>
          </c:tx>
          <c:spPr>
            <a:solidFill>
              <a:srgbClr val="00B4D8"/>
            </a:solidFill>
            <a:effectLst/>
          </c:spPr>
          <c:invertIfNegative val="0"/>
          <c:dLbls>
            <c:numFmt formatCode="0&quot;%&quot;" sourceLinked="0"/>
            <c:txPr>
              <a:bodyPr/>
              <a:lstStyle/>
              <a:p>
                <a:pPr>
                  <a:defRPr b="0" i="0" strike="noStrike" sz="1000" u="none">
                    <a:solidFill>
                      <a:srgbClr val="0B1F3A"/>
                    </a:solidFill>
                    <a:latin typeface="Arial"/>
                  </a:defRPr>
                </a:pPr>
              </a:p>
            </c:txPr>
            <c:showLegendKey val="0"/>
            <c:showVal val="1"/>
            <c:showCatName val="0"/>
            <c:showSerName val="0"/>
            <c:showPercent val="0"/>
            <c:showBubbleSize val="0"/>
            <c:showLeaderLines val="0"/>
          </c:dLbls>
          <c:cat>
            <c:multiLvlStrRef>
              <c:f>Sheet1!$A$2:$A$7</c:f>
              <c:multiLvlStrCache>
                <c:ptCount val="6"/>
                <c:lvl>
                  <c:pt idx="0">
                    <c:v>Logistic
Regression</c:v>
                  </c:pt>
                  <c:pt idx="1">
                    <c:v>Decision
Tree</c:v>
                  </c:pt>
                  <c:pt idx="2">
                    <c:v>SVM</c:v>
                  </c:pt>
                  <c:pt idx="3">
                    <c:v>Random
Forest</c:v>
                  </c:pt>
                  <c:pt idx="4">
                    <c:v>XGBoost /
Gradient Boost</c:v>
                  </c:pt>
                  <c:pt idx="5">
                    <c:v>Deep Learning
(CNN-LSTM)</c:v>
                  </c:pt>
                </c:lvl>
              </c:multiLvlStrCache>
            </c:multiLvlStrRef>
          </c:cat>
          <c:val>
            <c:numRef>
              <c:f>Sheet1!$B$2:$B$7</c:f>
              <c:numCache>
                <c:formatCode>General</c:formatCode>
                <c:ptCount val="6"/>
                <c:pt idx="0">
                  <c:v>91.5</c:v>
                </c:pt>
                <c:pt idx="1">
                  <c:v>93.4</c:v>
                </c:pt>
                <c:pt idx="2">
                  <c:v>95.8</c:v>
                </c:pt>
                <c:pt idx="3">
                  <c:v>97.8</c:v>
                </c:pt>
                <c:pt idx="4">
                  <c:v>98.4</c:v>
                </c:pt>
                <c:pt idx="5">
                  <c:v>97.6</c:v>
                </c:pt>
              </c:numCache>
            </c:numRef>
          </c:val>
        </c:ser>
        <c:dLbls>
          <c:numFmt formatCode="0&quot;%&quot;" sourceLinked="0"/>
          <c:txPr>
            <a:bodyPr/>
            <a:lstStyle/>
            <a:p>
              <a:pPr>
                <a:defRPr b="0" i="0" strike="noStrike" sz="1000" u="none">
                  <a:solidFill>
                    <a:srgbClr val="0B1F3A"/>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14314F"/>
                </a:solidFill>
                <a:latin typeface="+mn-lt"/>
              </a:defRPr>
            </a:pPr>
            <a:endParaRPr lang="en-US"/>
          </a:p>
        </c:txPr>
        <c:crossAx val="2094734552"/>
        <c:crosses val="autoZero"/>
        <c:auto val="1"/>
        <c:lblAlgn val="ctr"/>
        <c:noMultiLvlLbl val="1"/>
      </c:catAx>
      <c:valAx>
        <c:axId val="2094734552"/>
        <c:scaling>
          <c:orientation val="minMax"/>
          <c:max val="100"/>
          <c:min val="85"/>
        </c:scaling>
        <c:delete val="0"/>
        <c:axPos val="l"/>
        <c:majorGridlines>
          <c:spPr>
            <a:ln w="9525" cap="flat">
              <a:solidFill>
                <a:srgbClr val="E3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14314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F3A"/>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F3A"/>
          </a:solidFill>
          <a:ln/>
        </p:spPr>
      </p:sp>
      <p:sp>
        <p:nvSpPr>
          <p:cNvPr id="3" name="Text 1"/>
          <p:cNvSpPr/>
          <p:nvPr>
            <p:ph idx="101" type="title" hasCustomPrompt="1"/>
          </p:nvPr>
        </p:nvSpPr>
        <p:spPr>
          <a:xfrm>
            <a:off x="822960" y="2880360"/>
            <a:ext cx="10515600" cy="1188720"/>
          </a:xfrm>
          <a:prstGeom prst="rect">
            <a:avLst/>
          </a:prstGeom>
          <a:noFill/>
          <a:ln/>
        </p:spPr>
        <p:txBody>
          <a:bodyPr wrap="square" rtlCol="0"/>
          <a:lstStyle>
            <a:lvl1pPr algn="l" indent="0" marL="0">
              <a:buNone/>
              <a:defRPr lang="en-US" sz="3800" b="1" dirty="0">
                <a:solidFill>
                  <a:srgbClr val="FFFFFF"/>
                </a:solidFill>
                <a:latin typeface="Cambria" pitchFamily="34" charset="0"/>
                <a:ea typeface="Cambria" pitchFamily="34" charset="-122"/>
                <a:cs typeface="Cambria" pitchFamily="34" charset="-120"/>
              </a:defRPr>
            </a:lvl1pPr>
          </a:lstStyle>
          <a:p>
            <a:pPr algn="l" indent="0" marL="0">
              <a:buNone/>
            </a:pPr>
            <a:r>
              <a:rPr lang="en-US" sz="3800" b="1" dirty="0">
                <a:solidFill>
                  <a:srgbClr val="FFFFFF"/>
                </a:solidFill>
                <a:latin typeface="Cambria" pitchFamily="34" charset="0"/>
                <a:ea typeface="Cambria" pitchFamily="34" charset="-122"/>
                <a:cs typeface="Cambria" pitchFamily="34" charset="-120"/>
              </a:rPr>
              <a:t>Section Title</a:t>
            </a:r>
            <a:endParaRPr lang="en-US" sz="3800" dirty="0"/>
          </a:p>
        </p:txBody>
      </p:sp>
      <p:sp>
        <p:nvSpPr>
          <p:cNvPr id="4" name="Text 1"/>
          <p:cNvSpPr/>
          <p:nvPr>
            <p:ph idx="102" type="body" hasCustomPrompt="1"/>
          </p:nvPr>
        </p:nvSpPr>
        <p:spPr>
          <a:xfrm>
            <a:off x="868680" y="2423160"/>
            <a:ext cx="7315200" cy="457200"/>
          </a:xfrm>
          <a:prstGeom prst="rect">
            <a:avLst/>
          </a:prstGeom>
          <a:noFill/>
          <a:ln/>
        </p:spPr>
        <p:txBody>
          <a:bodyPr wrap="square" rtlCol="0"/>
          <a:lstStyle>
            <a:lvl1pPr algn="l" indent="0" marL="0">
              <a:buNone/>
              <a:defRPr lang="en-US" sz="1400" spc="300" kern="0" dirty="0">
                <a:solidFill>
                  <a:srgbClr val="00B4D8"/>
                </a:solidFill>
                <a:latin typeface="Calibri" pitchFamily="34" charset="0"/>
                <a:ea typeface="Calibri" pitchFamily="34" charset="-122"/>
                <a:cs typeface="Calibri" pitchFamily="34" charset="-120"/>
              </a:defRPr>
            </a:lvl1pPr>
          </a:lstStyle>
          <a:p>
            <a:pPr algn="l" indent="0" marL="0">
              <a:buNone/>
            </a:pPr>
            <a:r>
              <a:rPr lang="en-US" sz="1400" spc="300" kern="0" dirty="0">
                <a:solidFill>
                  <a:srgbClr val="00B4D8"/>
                </a:solidFill>
                <a:latin typeface="Calibri" pitchFamily="34" charset="0"/>
                <a:ea typeface="Calibri" pitchFamily="34" charset="-122"/>
                <a:cs typeface="Calibri" pitchFamily="34" charset="-120"/>
              </a:rPr>
              <a:t>KICKER</a:t>
            </a: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FFFFFF"/>
          </a:solidFill>
          <a:ln/>
        </p:spPr>
      </p:sp>
      <p:sp>
        <p:nvSpPr>
          <p:cNvPr id="3" name="Text 1"/>
          <p:cNvSpPr txBox="1"/>
          <p:nvPr/>
        </p:nvSpPr>
        <p:spPr>
          <a:xfrm>
            <a:off x="548640" y="301752"/>
            <a:ext cx="7315200" cy="320040"/>
          </a:xfrm>
          <a:prstGeom prst="rect">
            <a:avLst/>
          </a:prstGeom>
          <a:noFill/>
          <a:ln/>
        </p:spPr>
        <p:txBody>
          <a:bodyPr wrap="square" lIns="0" tIns="0" rIns="0" bIns="0" rtlCol="0" anchor="ctr"/>
          <a:lstStyle/>
          <a:p>
            <a:pPr indent="0" marL="0">
              <a:buNone/>
            </a:pPr>
            <a:endParaRPr lang="en-US" sz="1200" dirty="0"/>
          </a:p>
        </p:txBody>
      </p:sp>
      <p:sp>
        <p:nvSpPr>
          <p:cNvPr id="4" name="Text 2"/>
          <p:cNvSpPr/>
          <p:nvPr>
            <p:ph idx="102" type="title" hasCustomPrompt="1"/>
          </p:nvPr>
        </p:nvSpPr>
        <p:spPr>
          <a:xfrm>
            <a:off x="548640" y="502920"/>
            <a:ext cx="10515600" cy="548640"/>
          </a:xfrm>
          <a:prstGeom prst="rect">
            <a:avLst/>
          </a:prstGeom>
          <a:noFill/>
          <a:ln/>
        </p:spPr>
        <p:txBody>
          <a:bodyPr wrap="square" rtlCol="0"/>
          <a:lstStyle>
            <a:lvl1pPr algn="l" indent="0" marL="0">
              <a:buNone/>
              <a:defRPr lang="en-US" sz="3000" b="1" dirty="0">
                <a:solidFill>
                  <a:srgbClr val="0B1F3A"/>
                </a:solidFill>
                <a:latin typeface="Cambria" pitchFamily="34" charset="0"/>
                <a:ea typeface="Cambria" pitchFamily="34" charset="-122"/>
                <a:cs typeface="Cambria" pitchFamily="34" charset="-120"/>
              </a:defRPr>
            </a:lvl1pPr>
          </a:lstStyle>
          <a:p>
            <a:pPr algn="l" indent="0" marL="0">
              <a:buNone/>
            </a:pPr>
            <a:r>
              <a:rPr lang="en-US" sz="3000" b="1" dirty="0">
                <a:solidFill>
                  <a:srgbClr val="0B1F3A"/>
                </a:solidFill>
                <a:latin typeface="Cambria" pitchFamily="34" charset="0"/>
                <a:ea typeface="Cambria" pitchFamily="34" charset="-122"/>
                <a:cs typeface="Cambria" pitchFamily="34" charset="-120"/>
              </a:rPr>
              <a:t>Slide Title</a:t>
            </a:r>
            <a:endParaRPr lang="en-US" sz="3000" dirty="0"/>
          </a:p>
        </p:txBody>
      </p:sp>
      <p:sp>
        <p:nvSpPr>
          <p:cNvPr id="5" name="Shape 2"/>
          <p:cNvSpPr/>
          <p:nvPr/>
        </p:nvSpPr>
        <p:spPr>
          <a:xfrm>
            <a:off x="548640" y="1078992"/>
            <a:ext cx="0" cy="0"/>
          </a:xfrm>
          <a:prstGeom prst="line">
            <a:avLst/>
          </a:prstGeom>
          <a:noFill/>
          <a:ln w="12700">
            <a:solidFill>
              <a:srgbClr val="EAF2FA"/>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llege Header"/>
          <p:cNvSpPr txBox="1"/>
          <p:nvPr/>
        </p:nvSpPr>
        <p:spPr>
          <a:xfrm>
            <a:off x="1407166" y="800835"/>
            <a:ext cx="9144000" cy="773700"/>
          </a:xfrm>
          <a:prstGeom prst="rect">
            <a:avLst/>
          </a:prstGeom>
          <a:noFill/>
        </p:spPr>
        <p:txBody>
          <a:bodyPr wrap="square">
            <a:spAutoFit/>
          </a:bodyPr>
          <a:lstStyle/>
          <a:p>
            <a:pPr algn="ctr"/>
            <a:r>
              <a:rPr sz="2600" b="1">
                <a:latin typeface="Times New Roman"/>
              </a:rPr>
              <a:t>K. RAMAKRISHNAN COLLEGE OF TECHNOLOGY</a:t>
            </a:r>
          </a:p>
          <a:p>
            <a:pPr algn="ctr"/>
            <a:r>
              <a:rPr sz="2600" b="1">
                <a:latin typeface="Times New Roman"/>
              </a:rPr>
              <a:t>(AUTONOMOUS), TIRUCHIRAPALLI</a:t>
            </a:r>
          </a:p>
        </p:txBody>
      </p:sp>
      <p:pic>
        <p:nvPicPr>
          <p:cNvPr id="3" name="Picture 2" descr="image.png"/>
          <p:cNvPicPr>
            <a:picLocks noChangeAspect="1"/>
          </p:cNvPicPr>
          <p:nvPr/>
        </p:nvPicPr>
        <p:blipFill>
          <a:blip r:embed="rId2"/>
          <a:stretch>
            <a:fillRect/>
          </a:stretch>
        </p:blipFill>
        <p:spPr>
          <a:xfrm>
            <a:off x="200464" y="241349"/>
            <a:ext cx="1066800" cy="1057275"/>
          </a:xfrm>
          <a:prstGeom prst="rect">
            <a:avLst/>
          </a:prstGeom>
        </p:spPr>
      </p:pic>
      <p:pic>
        <p:nvPicPr>
          <p:cNvPr id="4" name="Picture 3" descr="image.jpg"/>
          <p:cNvPicPr>
            <a:picLocks noChangeAspect="1"/>
          </p:cNvPicPr>
          <p:nvPr/>
        </p:nvPicPr>
        <p:blipFill>
          <a:blip r:embed="rId3"/>
          <a:stretch>
            <a:fillRect/>
          </a:stretch>
        </p:blipFill>
        <p:spPr>
          <a:xfrm>
            <a:off x="10691081" y="236635"/>
            <a:ext cx="1154112" cy="1103312"/>
          </a:xfrm>
          <a:prstGeom prst="rect">
            <a:avLst/>
          </a:prstGeom>
        </p:spPr>
      </p:pic>
      <p:sp>
        <p:nvSpPr>
          <p:cNvPr id="5" name="Project Title"/>
          <p:cNvSpPr txBox="1"/>
          <p:nvPr/>
        </p:nvSpPr>
        <p:spPr>
          <a:xfrm>
            <a:off x="1209675" y="1829485"/>
            <a:ext cx="9618746" cy="1100000"/>
          </a:xfrm>
          <a:prstGeom prst="rect">
            <a:avLst/>
          </a:prstGeom>
          <a:noFill/>
        </p:spPr>
        <p:txBody>
          <a:bodyPr wrap="square">
            <a:spAutoFit/>
          </a:bodyPr>
          <a:lstStyle/>
          <a:p>
            <a:pPr algn="ctr"/>
            <a:r>
              <a:rPr sz="2800" b="1">
                <a:latin typeface="Times New Roman"/>
              </a:rPr>
              <a:t>PHISHING WEBSITE DETECTION</a:t>
            </a:r>
          </a:p>
          <a:p>
            <a:pPr algn="ctr"/>
            <a:r>
              <a:rPr sz="2800" b="1">
                <a:latin typeface="Times New Roman"/>
              </a:rPr>
              <a:t>USING MACHINE LEARNING</a:t>
            </a:r>
          </a:p>
        </p:txBody>
      </p:sp>
      <p:sp>
        <p:nvSpPr>
          <p:cNvPr id="6" name="Presented By"/>
          <p:cNvSpPr txBox="1"/>
          <p:nvPr/>
        </p:nvSpPr>
        <p:spPr>
          <a:xfrm>
            <a:off x="3054074" y="3122254"/>
            <a:ext cx="4230199" cy="2031295"/>
          </a:xfrm>
          <a:prstGeom prst="rect">
            <a:avLst/>
          </a:prstGeom>
          <a:noFill/>
        </p:spPr>
        <p:txBody>
          <a:bodyPr wrap="square">
            <a:spAutoFit/>
          </a:bodyPr>
          <a:lstStyle/>
          <a:p>
            <a:pPr algn="l"/>
            <a:r>
              <a:rPr sz="1900" b="1">
                <a:latin typeface="Times New Roman"/>
              </a:rPr>
              <a:t>PRESENTED BY</a:t>
            </a:r>
          </a:p>
          <a:p>
            <a:pPr algn="l"/>
            <a:r>
              <a:rPr sz="1900" b="1">
                <a:latin typeface="Times New Roman"/>
              </a:rPr>
              <a:t>Preethi M</a:t>
            </a:r>
          </a:p>
          <a:p>
            <a:pPr algn="l"/>
            <a:r>
              <a:rPr sz="1900" b="1">
                <a:latin typeface="Times New Roman"/>
              </a:rPr>
              <a:t>Priya Dharshini S</a:t>
            </a:r>
          </a:p>
          <a:p>
            <a:pPr algn="l"/>
            <a:r>
              <a:rPr sz="1900" b="1">
                <a:latin typeface="Times New Roman"/>
              </a:rPr>
              <a:t>Sadhana S</a:t>
            </a:r>
          </a:p>
          <a:p>
            <a:pPr algn="l"/>
            <a:r>
              <a:rPr sz="1900" b="1">
                <a:latin typeface="Times New Roman"/>
              </a:rPr>
              <a:t>Shubhashri V K</a:t>
            </a:r>
          </a:p>
          <a:p>
            <a:pPr algn="l"/>
            <a:r>
              <a:rPr sz="1900" b="1">
                <a:latin typeface="Times New Roman"/>
              </a:rPr>
              <a:t>Vishvesh S</a:t>
            </a:r>
          </a:p>
        </p:txBody>
      </p:sp>
      <p:sp>
        <p:nvSpPr>
          <p:cNvPr id="7" name="Register Numbers"/>
          <p:cNvSpPr txBox="1"/>
          <p:nvPr/>
        </p:nvSpPr>
        <p:spPr>
          <a:xfrm>
            <a:off x="5762221" y="3429000"/>
            <a:ext cx="3598605" cy="1700000"/>
          </a:xfrm>
          <a:prstGeom prst="rect">
            <a:avLst/>
          </a:prstGeom>
          <a:noFill/>
        </p:spPr>
        <p:txBody>
          <a:bodyPr wrap="square">
            <a:spAutoFit/>
          </a:bodyPr>
          <a:lstStyle/>
          <a:p>
            <a:pPr algn="l"/>
            <a:r>
              <a:rPr sz="1900" b="1">
                <a:latin typeface="Times New Roman"/>
              </a:rPr>
              <a:t>- 2503811724322077</a:t>
            </a:r>
          </a:p>
          <a:p>
            <a:pPr algn="l"/>
            <a:r>
              <a:rPr sz="1900" b="1">
                <a:latin typeface="Times New Roman"/>
              </a:rPr>
              <a:t>- 2503811724322079</a:t>
            </a:r>
          </a:p>
          <a:p>
            <a:pPr algn="l"/>
            <a:r>
              <a:rPr sz="1900" b="1">
                <a:latin typeface="Times New Roman"/>
              </a:rPr>
              <a:t>- 2503811724322089</a:t>
            </a:r>
          </a:p>
          <a:p>
            <a:pPr algn="l"/>
            <a:r>
              <a:rPr sz="1900" b="1">
                <a:latin typeface="Times New Roman"/>
              </a:rPr>
              <a:t>- 2503811724322100</a:t>
            </a:r>
          </a:p>
          <a:p>
            <a:pPr algn="l"/>
            <a:r>
              <a:rPr sz="1900" b="1">
                <a:latin typeface="Times New Roman"/>
              </a:rPr>
              <a:t>- 2503811724322122</a:t>
            </a:r>
          </a:p>
        </p:txBody>
      </p:sp>
      <p:sp>
        <p:nvSpPr>
          <p:cNvPr id="8" name="TextBox 7"/>
          <p:cNvSpPr txBox="1"/>
          <p:nvPr/>
        </p:nvSpPr>
        <p:spPr>
          <a:xfrm>
            <a:off x="7559040" y="5486400"/>
            <a:ext cx="3901440" cy="822960"/>
          </a:xfrm>
          <a:prstGeom prst="rect">
            <a:avLst/>
          </a:prstGeom>
          <a:noFill/>
        </p:spPr>
        <p:txBody>
          <a:bodyPr wrap="none">
            <a:spAutoFit/>
          </a:bodyPr>
          <a:lstStyle/>
          <a:p>
            <a:pPr algn="r"/>
            <a:r>
              <a:rPr sz="1700"/>
              <a:t>COORDINATOR</a:t>
            </a:r>
          </a:p>
          <a:p>
            <a:pPr algn="r"/>
            <a:r>
              <a:rPr sz="1500"/>
              <a:t>Mr. P. B. Arvind Prasanth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502920"/>
            <a:ext cx="10515600" cy="548640"/>
          </a:xfrm>
          <a:prstGeom prst="rect">
            <a:avLst/>
          </a:prstGeom>
          <a:noFill/>
          <a:ln/>
        </p:spPr>
        <p:txBody>
          <a:bodyPr wrap="square" rtlCol="0"/>
          <a:lstStyle/>
          <a:p>
            <a:pPr algn="l" indent="0" marL="0">
              <a:buNone/>
            </a:pPr>
            <a:r>
              <a:rPr lang="en-US" sz="3000" b="1" dirty="0">
                <a:solidFill>
                  <a:srgbClr val="0B1F3A"/>
                </a:solidFill>
                <a:latin typeface="Cambria" pitchFamily="34" charset="0"/>
                <a:ea typeface="Cambria" pitchFamily="34" charset="-122"/>
                <a:cs typeface="Cambria" pitchFamily="34" charset="-120"/>
              </a:rPr>
              <a:t>OBJECTIVE</a:t>
            </a:r>
            <a:endParaRPr lang="en-US" sz="3000" dirty="0"/>
          </a:p>
        </p:txBody>
      </p:sp>
      <p:sp>
        <p:nvSpPr>
          <p:cNvPr id="3" name="Shape 1"/>
          <p:cNvSpPr/>
          <p:nvPr/>
        </p:nvSpPr>
        <p:spPr>
          <a:xfrm>
            <a:off x="548640" y="1417320"/>
            <a:ext cx="3355848" cy="2331720"/>
          </a:xfrm>
          <a:prstGeom prst="roundRect">
            <a:avLst>
              <a:gd name="adj" fmla="val 3137"/>
            </a:avLst>
          </a:prstGeom>
          <a:solidFill>
            <a:srgbClr val="EAF2FA"/>
          </a:solidFill>
          <a:ln/>
        </p:spPr>
      </p:sp>
      <p:sp>
        <p:nvSpPr>
          <p:cNvPr id="4" name="Shape 2"/>
          <p:cNvSpPr/>
          <p:nvPr/>
        </p:nvSpPr>
        <p:spPr>
          <a:xfrm>
            <a:off x="777240" y="1645920"/>
            <a:ext cx="457200" cy="457200"/>
          </a:xfrm>
          <a:prstGeom prst="ellipse">
            <a:avLst/>
          </a:prstGeom>
          <a:solidFill>
            <a:srgbClr val="00B4D8"/>
          </a:solidFill>
          <a:ln/>
        </p:spPr>
      </p:sp>
      <p:sp>
        <p:nvSpPr>
          <p:cNvPr id="5" name="Text 3"/>
          <p:cNvSpPr txBox="1"/>
          <p:nvPr/>
        </p:nvSpPr>
        <p:spPr>
          <a:xfrm>
            <a:off x="777240" y="1645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777240" y="2286000"/>
            <a:ext cx="2898648" cy="45720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Accurate Classification</a:t>
            </a:r>
            <a:endParaRPr lang="en-US" sz="1500" dirty="0"/>
          </a:p>
        </p:txBody>
      </p:sp>
      <p:sp>
        <p:nvSpPr>
          <p:cNvPr id="7" name="Text 5"/>
          <p:cNvSpPr txBox="1"/>
          <p:nvPr/>
        </p:nvSpPr>
        <p:spPr>
          <a:xfrm>
            <a:off x="777240" y="2715768"/>
            <a:ext cx="2898648" cy="914400"/>
          </a:xfrm>
          <a:prstGeom prst="rect">
            <a:avLst/>
          </a:prstGeom>
          <a:noFill/>
          <a:ln/>
        </p:spPr>
        <p:txBody>
          <a:bodyPr wrap="square" lIns="0" tIns="0" rIns="0" bIns="0" rtlCol="0" anchor="t"/>
          <a:lstStyle/>
          <a:p>
            <a:pPr indent="0" marL="0">
              <a:buNone/>
            </a:pPr>
            <a:r>
              <a:rPr lang="en-US" sz="1100" dirty="0">
                <a:solidFill>
                  <a:srgbClr val="14314F"/>
                </a:solidFill>
                <a:latin typeface="Calibri" pitchFamily="34" charset="0"/>
                <a:ea typeface="Calibri" pitchFamily="34" charset="-122"/>
                <a:cs typeface="Calibri" pitchFamily="34" charset="-120"/>
              </a:rPr>
              <a:t>Design a machine learning system that reliably classifies a given website or URL as phishing or legitimate.</a:t>
            </a:r>
            <a:endParaRPr lang="en-US" sz="1100" dirty="0"/>
          </a:p>
        </p:txBody>
      </p:sp>
      <p:sp>
        <p:nvSpPr>
          <p:cNvPr id="8" name="Shape 6"/>
          <p:cNvSpPr/>
          <p:nvPr/>
        </p:nvSpPr>
        <p:spPr>
          <a:xfrm>
            <a:off x="4133088" y="1417320"/>
            <a:ext cx="3355848" cy="2331720"/>
          </a:xfrm>
          <a:prstGeom prst="roundRect">
            <a:avLst>
              <a:gd name="adj" fmla="val 3137"/>
            </a:avLst>
          </a:prstGeom>
          <a:solidFill>
            <a:srgbClr val="EAF2FA"/>
          </a:solidFill>
          <a:ln/>
        </p:spPr>
      </p:sp>
      <p:sp>
        <p:nvSpPr>
          <p:cNvPr id="9" name="Shape 7"/>
          <p:cNvSpPr/>
          <p:nvPr/>
        </p:nvSpPr>
        <p:spPr>
          <a:xfrm>
            <a:off x="4361688" y="1645920"/>
            <a:ext cx="457200" cy="457200"/>
          </a:xfrm>
          <a:prstGeom prst="ellipse">
            <a:avLst/>
          </a:prstGeom>
          <a:solidFill>
            <a:srgbClr val="00B4D8"/>
          </a:solidFill>
          <a:ln/>
        </p:spPr>
      </p:sp>
      <p:sp>
        <p:nvSpPr>
          <p:cNvPr id="10" name="Text 8"/>
          <p:cNvSpPr txBox="1"/>
          <p:nvPr/>
        </p:nvSpPr>
        <p:spPr>
          <a:xfrm>
            <a:off x="4361688" y="1645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4361688" y="2286000"/>
            <a:ext cx="2898648" cy="45720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Feature-Driven Detection</a:t>
            </a:r>
            <a:endParaRPr lang="en-US" sz="1500" dirty="0"/>
          </a:p>
        </p:txBody>
      </p:sp>
      <p:sp>
        <p:nvSpPr>
          <p:cNvPr id="12" name="Text 10"/>
          <p:cNvSpPr txBox="1"/>
          <p:nvPr/>
        </p:nvSpPr>
        <p:spPr>
          <a:xfrm>
            <a:off x="4361688" y="2715768"/>
            <a:ext cx="2898648" cy="914400"/>
          </a:xfrm>
          <a:prstGeom prst="rect">
            <a:avLst/>
          </a:prstGeom>
          <a:noFill/>
          <a:ln/>
        </p:spPr>
        <p:txBody>
          <a:bodyPr wrap="square" lIns="0" tIns="0" rIns="0" bIns="0" rtlCol="0" anchor="t"/>
          <a:lstStyle/>
          <a:p>
            <a:pPr indent="0" marL="0">
              <a:buNone/>
            </a:pPr>
            <a:r>
              <a:rPr lang="en-US" sz="1100" dirty="0">
                <a:solidFill>
                  <a:srgbClr val="14314F"/>
                </a:solidFill>
                <a:latin typeface="Calibri" pitchFamily="34" charset="0"/>
                <a:ea typeface="Calibri" pitchFamily="34" charset="-122"/>
                <a:cs typeface="Calibri" pitchFamily="34" charset="-120"/>
              </a:rPr>
              <a:t>Extract and analyze URL-based, domain-based, and content-based indicators that distinguish phishing sites from genuine ones.</a:t>
            </a:r>
            <a:endParaRPr lang="en-US" sz="1100" dirty="0"/>
          </a:p>
        </p:txBody>
      </p:sp>
      <p:sp>
        <p:nvSpPr>
          <p:cNvPr id="13" name="Shape 11"/>
          <p:cNvSpPr/>
          <p:nvPr/>
        </p:nvSpPr>
        <p:spPr>
          <a:xfrm>
            <a:off x="7717536" y="1417320"/>
            <a:ext cx="3355848" cy="2331720"/>
          </a:xfrm>
          <a:prstGeom prst="roundRect">
            <a:avLst>
              <a:gd name="adj" fmla="val 3137"/>
            </a:avLst>
          </a:prstGeom>
          <a:solidFill>
            <a:srgbClr val="EAF2FA"/>
          </a:solidFill>
          <a:ln/>
        </p:spPr>
      </p:sp>
      <p:sp>
        <p:nvSpPr>
          <p:cNvPr id="14" name="Shape 12"/>
          <p:cNvSpPr/>
          <p:nvPr/>
        </p:nvSpPr>
        <p:spPr>
          <a:xfrm>
            <a:off x="7946136" y="1645920"/>
            <a:ext cx="457200" cy="457200"/>
          </a:xfrm>
          <a:prstGeom prst="ellipse">
            <a:avLst/>
          </a:prstGeom>
          <a:solidFill>
            <a:srgbClr val="00B4D8"/>
          </a:solidFill>
          <a:ln/>
        </p:spPr>
      </p:sp>
      <p:sp>
        <p:nvSpPr>
          <p:cNvPr id="15" name="Text 13"/>
          <p:cNvSpPr txBox="1"/>
          <p:nvPr/>
        </p:nvSpPr>
        <p:spPr>
          <a:xfrm>
            <a:off x="7946136" y="16459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txBox="1"/>
          <p:nvPr/>
        </p:nvSpPr>
        <p:spPr>
          <a:xfrm>
            <a:off x="7946136" y="2286000"/>
            <a:ext cx="2898648" cy="45720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Algorithm Benchmarking</a:t>
            </a:r>
            <a:endParaRPr lang="en-US" sz="1500" dirty="0"/>
          </a:p>
        </p:txBody>
      </p:sp>
      <p:sp>
        <p:nvSpPr>
          <p:cNvPr id="17" name="Text 15"/>
          <p:cNvSpPr txBox="1"/>
          <p:nvPr/>
        </p:nvSpPr>
        <p:spPr>
          <a:xfrm>
            <a:off x="7946136" y="2715768"/>
            <a:ext cx="2898648" cy="914400"/>
          </a:xfrm>
          <a:prstGeom prst="rect">
            <a:avLst/>
          </a:prstGeom>
          <a:noFill/>
          <a:ln/>
        </p:spPr>
        <p:txBody>
          <a:bodyPr wrap="square" lIns="0" tIns="0" rIns="0" bIns="0" rtlCol="0" anchor="t"/>
          <a:lstStyle/>
          <a:p>
            <a:pPr indent="0" marL="0">
              <a:buNone/>
            </a:pPr>
            <a:r>
              <a:rPr lang="en-US" sz="1100" dirty="0">
                <a:solidFill>
                  <a:srgbClr val="14314F"/>
                </a:solidFill>
                <a:latin typeface="Calibri" pitchFamily="34" charset="0"/>
                <a:ea typeface="Calibri" pitchFamily="34" charset="-122"/>
                <a:cs typeface="Calibri" pitchFamily="34" charset="-120"/>
              </a:rPr>
              <a:t>Train and compare multiple ML algorithms to identify the model offering the best accuracy-to-speed trade-off.</a:t>
            </a:r>
            <a:endParaRPr lang="en-US" sz="1100" dirty="0"/>
          </a:p>
        </p:txBody>
      </p:sp>
      <p:sp>
        <p:nvSpPr>
          <p:cNvPr id="18" name="Shape 16"/>
          <p:cNvSpPr/>
          <p:nvPr/>
        </p:nvSpPr>
        <p:spPr>
          <a:xfrm>
            <a:off x="548640" y="4023360"/>
            <a:ext cx="3355848" cy="2331720"/>
          </a:xfrm>
          <a:prstGeom prst="roundRect">
            <a:avLst>
              <a:gd name="adj" fmla="val 3137"/>
            </a:avLst>
          </a:prstGeom>
          <a:solidFill>
            <a:srgbClr val="EAF2FA"/>
          </a:solidFill>
          <a:ln/>
        </p:spPr>
      </p:sp>
      <p:sp>
        <p:nvSpPr>
          <p:cNvPr id="19" name="Shape 17"/>
          <p:cNvSpPr/>
          <p:nvPr/>
        </p:nvSpPr>
        <p:spPr>
          <a:xfrm>
            <a:off x="777240" y="4251960"/>
            <a:ext cx="457200" cy="457200"/>
          </a:xfrm>
          <a:prstGeom prst="ellipse">
            <a:avLst/>
          </a:prstGeom>
          <a:solidFill>
            <a:srgbClr val="00B4D8"/>
          </a:solidFill>
          <a:ln/>
        </p:spPr>
      </p:sp>
      <p:sp>
        <p:nvSpPr>
          <p:cNvPr id="20" name="Text 18"/>
          <p:cNvSpPr txBox="1"/>
          <p:nvPr/>
        </p:nvSpPr>
        <p:spPr>
          <a:xfrm>
            <a:off x="777240" y="4251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1" name="Text 19"/>
          <p:cNvSpPr txBox="1"/>
          <p:nvPr/>
        </p:nvSpPr>
        <p:spPr>
          <a:xfrm>
            <a:off x="777240" y="4892040"/>
            <a:ext cx="2898648" cy="45720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Real-Time Protection</a:t>
            </a:r>
            <a:endParaRPr lang="en-US" sz="1500" dirty="0"/>
          </a:p>
        </p:txBody>
      </p:sp>
      <p:sp>
        <p:nvSpPr>
          <p:cNvPr id="22" name="Text 20"/>
          <p:cNvSpPr txBox="1"/>
          <p:nvPr/>
        </p:nvSpPr>
        <p:spPr>
          <a:xfrm>
            <a:off x="777240" y="5321808"/>
            <a:ext cx="2898648" cy="914400"/>
          </a:xfrm>
          <a:prstGeom prst="rect">
            <a:avLst/>
          </a:prstGeom>
          <a:noFill/>
          <a:ln/>
        </p:spPr>
        <p:txBody>
          <a:bodyPr wrap="square" lIns="0" tIns="0" rIns="0" bIns="0" rtlCol="0" anchor="t"/>
          <a:lstStyle/>
          <a:p>
            <a:pPr indent="0" marL="0">
              <a:buNone/>
            </a:pPr>
            <a:r>
              <a:rPr lang="en-US" sz="1100" dirty="0">
                <a:solidFill>
                  <a:srgbClr val="14314F"/>
                </a:solidFill>
                <a:latin typeface="Calibri" pitchFamily="34" charset="0"/>
                <a:ea typeface="Calibri" pitchFamily="34" charset="-122"/>
                <a:cs typeface="Calibri" pitchFamily="34" charset="-120"/>
              </a:rPr>
              <a:t>Build a deployable detection module (web app / browser extension) that warns users before they interact with a phishing page.</a:t>
            </a:r>
            <a:endParaRPr lang="en-US" sz="1100" dirty="0"/>
          </a:p>
        </p:txBody>
      </p:sp>
      <p:sp>
        <p:nvSpPr>
          <p:cNvPr id="23" name="Shape 21"/>
          <p:cNvSpPr/>
          <p:nvPr/>
        </p:nvSpPr>
        <p:spPr>
          <a:xfrm>
            <a:off x="4133088" y="4023360"/>
            <a:ext cx="3355848" cy="2331720"/>
          </a:xfrm>
          <a:prstGeom prst="roundRect">
            <a:avLst>
              <a:gd name="adj" fmla="val 3137"/>
            </a:avLst>
          </a:prstGeom>
          <a:solidFill>
            <a:srgbClr val="EAF2FA"/>
          </a:solidFill>
          <a:ln/>
        </p:spPr>
      </p:sp>
      <p:sp>
        <p:nvSpPr>
          <p:cNvPr id="24" name="Shape 22"/>
          <p:cNvSpPr/>
          <p:nvPr/>
        </p:nvSpPr>
        <p:spPr>
          <a:xfrm>
            <a:off x="4361688" y="4251960"/>
            <a:ext cx="457200" cy="457200"/>
          </a:xfrm>
          <a:prstGeom prst="ellipse">
            <a:avLst/>
          </a:prstGeom>
          <a:solidFill>
            <a:srgbClr val="00B4D8"/>
          </a:solidFill>
          <a:ln/>
        </p:spPr>
      </p:sp>
      <p:sp>
        <p:nvSpPr>
          <p:cNvPr id="25" name="Text 23"/>
          <p:cNvSpPr txBox="1"/>
          <p:nvPr/>
        </p:nvSpPr>
        <p:spPr>
          <a:xfrm>
            <a:off x="4361688" y="4251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6" name="Text 24"/>
          <p:cNvSpPr txBox="1"/>
          <p:nvPr/>
        </p:nvSpPr>
        <p:spPr>
          <a:xfrm>
            <a:off x="4361688" y="4892040"/>
            <a:ext cx="2898648" cy="45720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Minimize Errors</a:t>
            </a:r>
            <a:endParaRPr lang="en-US" sz="1500" dirty="0"/>
          </a:p>
        </p:txBody>
      </p:sp>
      <p:sp>
        <p:nvSpPr>
          <p:cNvPr id="27" name="Text 25"/>
          <p:cNvSpPr txBox="1"/>
          <p:nvPr/>
        </p:nvSpPr>
        <p:spPr>
          <a:xfrm>
            <a:off x="4361688" y="5321808"/>
            <a:ext cx="2898648" cy="914400"/>
          </a:xfrm>
          <a:prstGeom prst="rect">
            <a:avLst/>
          </a:prstGeom>
          <a:noFill/>
          <a:ln/>
        </p:spPr>
        <p:txBody>
          <a:bodyPr wrap="square" lIns="0" tIns="0" rIns="0" bIns="0" rtlCol="0" anchor="t"/>
          <a:lstStyle/>
          <a:p>
            <a:pPr indent="0" marL="0">
              <a:buNone/>
            </a:pPr>
            <a:r>
              <a:rPr lang="en-US" sz="1100" dirty="0">
                <a:solidFill>
                  <a:srgbClr val="14314F"/>
                </a:solidFill>
                <a:latin typeface="Calibri" pitchFamily="34" charset="0"/>
                <a:ea typeface="Calibri" pitchFamily="34" charset="-122"/>
                <a:cs typeface="Calibri" pitchFamily="34" charset="-120"/>
              </a:rPr>
              <a:t>Reduce false positives and false negatives so legitimate sites are not blocked and phishing sites are not missed.</a:t>
            </a:r>
            <a:endParaRPr lang="en-US" sz="1100" dirty="0"/>
          </a:p>
        </p:txBody>
      </p:sp>
      <p:sp>
        <p:nvSpPr>
          <p:cNvPr id="28" name="Text 26"/>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A9BB0"/>
                </a:solidFill>
                <a:latin typeface="Calibri" pitchFamily="34" charset="0"/>
                <a:ea typeface="Calibri" pitchFamily="34" charset="-122"/>
                <a:cs typeface="Calibri" pitchFamily="34" charset="-120"/>
              </a:rPr>
              <a:t>Phishing Website Detection Using Machine Learning</a:t>
            </a:r>
            <a:endParaRPr lang="en-US" sz="900" dirty="0"/>
          </a:p>
        </p:txBody>
      </p:sp>
      <p:sp>
        <p:nvSpPr>
          <p:cNvPr id="29" name="Text 27"/>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502920"/>
            <a:ext cx="10515600" cy="548640"/>
          </a:xfrm>
          <a:prstGeom prst="rect">
            <a:avLst/>
          </a:prstGeom>
          <a:noFill/>
          <a:ln/>
        </p:spPr>
        <p:txBody>
          <a:bodyPr wrap="square" rtlCol="0"/>
          <a:lstStyle/>
          <a:p>
            <a:pPr algn="l" indent="0" marL="0">
              <a:buNone/>
            </a:pPr>
            <a:r>
              <a:rPr lang="en-US" sz="3000" b="1" dirty="0">
                <a:solidFill>
                  <a:srgbClr val="0B1F3A"/>
                </a:solidFill>
                <a:latin typeface="Cambria" pitchFamily="34" charset="0"/>
                <a:ea typeface="Cambria" pitchFamily="34" charset="-122"/>
                <a:cs typeface="Cambria" pitchFamily="34" charset="-120"/>
              </a:rPr>
              <a:t>PROBLEM IDENTIFICATION</a:t>
            </a:r>
            <a:endParaRPr lang="en-US" sz="3000" dirty="0"/>
          </a:p>
        </p:txBody>
      </p:sp>
      <p:sp>
        <p:nvSpPr>
          <p:cNvPr id="3" name="Shape 1"/>
          <p:cNvSpPr/>
          <p:nvPr/>
        </p:nvSpPr>
        <p:spPr>
          <a:xfrm>
            <a:off x="548640" y="1417320"/>
            <a:ext cx="5257800" cy="1371600"/>
          </a:xfrm>
          <a:prstGeom prst="roundRect">
            <a:avLst>
              <a:gd name="adj" fmla="val 4667"/>
            </a:avLst>
          </a:prstGeom>
          <a:solidFill>
            <a:srgbClr val="EAF2FA"/>
          </a:solidFill>
          <a:ln/>
        </p:spPr>
      </p:sp>
      <p:sp>
        <p:nvSpPr>
          <p:cNvPr id="4" name="Shape 2"/>
          <p:cNvSpPr/>
          <p:nvPr/>
        </p:nvSpPr>
        <p:spPr>
          <a:xfrm>
            <a:off x="749808" y="1618488"/>
            <a:ext cx="128016" cy="128016"/>
          </a:xfrm>
          <a:prstGeom prst="ellipse">
            <a:avLst/>
          </a:prstGeom>
          <a:solidFill>
            <a:srgbClr val="FF5A5F"/>
          </a:solidFill>
          <a:ln/>
        </p:spPr>
      </p:sp>
      <p:sp>
        <p:nvSpPr>
          <p:cNvPr id="5" name="Text 3"/>
          <p:cNvSpPr txBox="1"/>
          <p:nvPr/>
        </p:nvSpPr>
        <p:spPr>
          <a:xfrm>
            <a:off x="1005840" y="1527048"/>
            <a:ext cx="4663440" cy="1152144"/>
          </a:xfrm>
          <a:prstGeom prst="rect">
            <a:avLst/>
          </a:prstGeom>
          <a:noFill/>
          <a:ln/>
        </p:spPr>
        <p:txBody>
          <a:bodyPr wrap="square" lIns="0" tIns="0" rIns="0" bIns="0" rtlCol="0" anchor="t"/>
          <a:lstStyle/>
          <a:p>
            <a:pPr indent="0" marL="0">
              <a:buNone/>
            </a:pPr>
            <a:r>
              <a:rPr lang="en-US" sz="1150" dirty="0">
                <a:solidFill>
                  <a:srgbClr val="14314F"/>
                </a:solidFill>
                <a:latin typeface="Calibri" pitchFamily="34" charset="0"/>
                <a:ea typeface="Calibri" pitchFamily="34" charset="-122"/>
                <a:cs typeface="Calibri" pitchFamily="34" charset="-120"/>
              </a:rPr>
              <a:t>Phishing attacks are rising sharply every year, costing individuals and organizations billions of dollars and compromising sensitive financial and personal data.</a:t>
            </a:r>
            <a:endParaRPr lang="en-US" sz="1150" dirty="0"/>
          </a:p>
        </p:txBody>
      </p:sp>
      <p:sp>
        <p:nvSpPr>
          <p:cNvPr id="6" name="Shape 4"/>
          <p:cNvSpPr/>
          <p:nvPr/>
        </p:nvSpPr>
        <p:spPr>
          <a:xfrm>
            <a:off x="548640" y="2953512"/>
            <a:ext cx="5257800" cy="1371600"/>
          </a:xfrm>
          <a:prstGeom prst="roundRect">
            <a:avLst>
              <a:gd name="adj" fmla="val 4667"/>
            </a:avLst>
          </a:prstGeom>
          <a:solidFill>
            <a:srgbClr val="EAF2FA"/>
          </a:solidFill>
          <a:ln/>
        </p:spPr>
      </p:sp>
      <p:sp>
        <p:nvSpPr>
          <p:cNvPr id="7" name="Shape 5"/>
          <p:cNvSpPr/>
          <p:nvPr/>
        </p:nvSpPr>
        <p:spPr>
          <a:xfrm>
            <a:off x="749808" y="3154680"/>
            <a:ext cx="128016" cy="128016"/>
          </a:xfrm>
          <a:prstGeom prst="ellipse">
            <a:avLst/>
          </a:prstGeom>
          <a:solidFill>
            <a:srgbClr val="FF5A5F"/>
          </a:solidFill>
          <a:ln/>
        </p:spPr>
      </p:sp>
      <p:sp>
        <p:nvSpPr>
          <p:cNvPr id="8" name="Text 6"/>
          <p:cNvSpPr txBox="1"/>
          <p:nvPr/>
        </p:nvSpPr>
        <p:spPr>
          <a:xfrm>
            <a:off x="1005840" y="3063240"/>
            <a:ext cx="4663440" cy="1152144"/>
          </a:xfrm>
          <a:prstGeom prst="rect">
            <a:avLst/>
          </a:prstGeom>
          <a:noFill/>
          <a:ln/>
        </p:spPr>
        <p:txBody>
          <a:bodyPr wrap="square" lIns="0" tIns="0" rIns="0" bIns="0" rtlCol="0" anchor="t"/>
          <a:lstStyle/>
          <a:p>
            <a:pPr indent="0" marL="0">
              <a:buNone/>
            </a:pPr>
            <a:r>
              <a:rPr lang="en-US" sz="1150" dirty="0">
                <a:solidFill>
                  <a:srgbClr val="14314F"/>
                </a:solidFill>
                <a:latin typeface="Calibri" pitchFamily="34" charset="0"/>
                <a:ea typeface="Calibri" pitchFamily="34" charset="-122"/>
                <a:cs typeface="Calibri" pitchFamily="34" charset="-120"/>
              </a:rPr>
              <a:t>Traditional defenses — blacklists and static rule-based heuristics — cannot keep pace with constantly evolving phishing tactics.</a:t>
            </a:r>
            <a:endParaRPr lang="en-US" sz="1150" dirty="0"/>
          </a:p>
        </p:txBody>
      </p:sp>
      <p:sp>
        <p:nvSpPr>
          <p:cNvPr id="9" name="Shape 7"/>
          <p:cNvSpPr/>
          <p:nvPr/>
        </p:nvSpPr>
        <p:spPr>
          <a:xfrm>
            <a:off x="548640" y="4489704"/>
            <a:ext cx="5257800" cy="1371600"/>
          </a:xfrm>
          <a:prstGeom prst="roundRect">
            <a:avLst>
              <a:gd name="adj" fmla="val 4667"/>
            </a:avLst>
          </a:prstGeom>
          <a:solidFill>
            <a:srgbClr val="EAF2FA"/>
          </a:solidFill>
          <a:ln/>
        </p:spPr>
      </p:sp>
      <p:sp>
        <p:nvSpPr>
          <p:cNvPr id="10" name="Shape 8"/>
          <p:cNvSpPr/>
          <p:nvPr/>
        </p:nvSpPr>
        <p:spPr>
          <a:xfrm>
            <a:off x="749808" y="4690872"/>
            <a:ext cx="128016" cy="128016"/>
          </a:xfrm>
          <a:prstGeom prst="ellipse">
            <a:avLst/>
          </a:prstGeom>
          <a:solidFill>
            <a:srgbClr val="FF5A5F"/>
          </a:solidFill>
          <a:ln/>
        </p:spPr>
      </p:sp>
      <p:sp>
        <p:nvSpPr>
          <p:cNvPr id="11" name="Text 9"/>
          <p:cNvSpPr txBox="1"/>
          <p:nvPr/>
        </p:nvSpPr>
        <p:spPr>
          <a:xfrm>
            <a:off x="1005840" y="4599432"/>
            <a:ext cx="4663440" cy="1152144"/>
          </a:xfrm>
          <a:prstGeom prst="rect">
            <a:avLst/>
          </a:prstGeom>
          <a:noFill/>
          <a:ln/>
        </p:spPr>
        <p:txBody>
          <a:bodyPr wrap="square" lIns="0" tIns="0" rIns="0" bIns="0" rtlCol="0" anchor="t"/>
          <a:lstStyle/>
          <a:p>
            <a:pPr indent="0" marL="0">
              <a:buNone/>
            </a:pPr>
            <a:r>
              <a:rPr lang="en-US" sz="1150" dirty="0">
                <a:solidFill>
                  <a:srgbClr val="14314F"/>
                </a:solidFill>
                <a:latin typeface="Calibri" pitchFamily="34" charset="0"/>
                <a:ea typeface="Calibri" pitchFamily="34" charset="-122"/>
                <a:cs typeface="Calibri" pitchFamily="34" charset="-120"/>
              </a:rPr>
              <a:t>Attackers use URL obfuscation, short-lived throwaway domains, and visually cloned pages to evade simple filters.</a:t>
            </a:r>
            <a:endParaRPr lang="en-US" sz="1150" dirty="0"/>
          </a:p>
        </p:txBody>
      </p:sp>
      <p:sp>
        <p:nvSpPr>
          <p:cNvPr id="12" name="Shape 10"/>
          <p:cNvSpPr/>
          <p:nvPr/>
        </p:nvSpPr>
        <p:spPr>
          <a:xfrm>
            <a:off x="6355080" y="1417320"/>
            <a:ext cx="5257800" cy="1371600"/>
          </a:xfrm>
          <a:prstGeom prst="roundRect">
            <a:avLst>
              <a:gd name="adj" fmla="val 4667"/>
            </a:avLst>
          </a:prstGeom>
          <a:solidFill>
            <a:srgbClr val="EAF2FA"/>
          </a:solidFill>
          <a:ln/>
        </p:spPr>
      </p:sp>
      <p:sp>
        <p:nvSpPr>
          <p:cNvPr id="13" name="Shape 11"/>
          <p:cNvSpPr/>
          <p:nvPr/>
        </p:nvSpPr>
        <p:spPr>
          <a:xfrm>
            <a:off x="6556248" y="1618488"/>
            <a:ext cx="128016" cy="128016"/>
          </a:xfrm>
          <a:prstGeom prst="ellipse">
            <a:avLst/>
          </a:prstGeom>
          <a:solidFill>
            <a:srgbClr val="00B4D8"/>
          </a:solidFill>
          <a:ln/>
        </p:spPr>
      </p:sp>
      <p:sp>
        <p:nvSpPr>
          <p:cNvPr id="14" name="Text 12"/>
          <p:cNvSpPr txBox="1"/>
          <p:nvPr/>
        </p:nvSpPr>
        <p:spPr>
          <a:xfrm>
            <a:off x="6812280" y="1527048"/>
            <a:ext cx="4663440" cy="1152144"/>
          </a:xfrm>
          <a:prstGeom prst="rect">
            <a:avLst/>
          </a:prstGeom>
          <a:noFill/>
          <a:ln/>
        </p:spPr>
        <p:txBody>
          <a:bodyPr wrap="square" lIns="0" tIns="0" rIns="0" bIns="0" rtlCol="0" anchor="t"/>
          <a:lstStyle/>
          <a:p>
            <a:pPr indent="0" marL="0">
              <a:buNone/>
            </a:pPr>
            <a:r>
              <a:rPr lang="en-US" sz="1150" dirty="0">
                <a:solidFill>
                  <a:srgbClr val="14314F"/>
                </a:solidFill>
                <a:latin typeface="Calibri" pitchFamily="34" charset="0"/>
                <a:ea typeface="Calibri" pitchFamily="34" charset="-122"/>
                <a:cs typeface="Calibri" pitchFamily="34" charset="-120"/>
              </a:rPr>
              <a:t>Blacklists only flag sites after they have already been reported, leaving a dangerous window for zero-day phishing pages.</a:t>
            </a:r>
            <a:endParaRPr lang="en-US" sz="1150" dirty="0"/>
          </a:p>
        </p:txBody>
      </p:sp>
      <p:sp>
        <p:nvSpPr>
          <p:cNvPr id="15" name="Shape 13"/>
          <p:cNvSpPr/>
          <p:nvPr/>
        </p:nvSpPr>
        <p:spPr>
          <a:xfrm>
            <a:off x="6355080" y="2953512"/>
            <a:ext cx="5257800" cy="1371600"/>
          </a:xfrm>
          <a:prstGeom prst="roundRect">
            <a:avLst>
              <a:gd name="adj" fmla="val 4667"/>
            </a:avLst>
          </a:prstGeom>
          <a:solidFill>
            <a:srgbClr val="EAF2FA"/>
          </a:solidFill>
          <a:ln/>
        </p:spPr>
      </p:sp>
      <p:sp>
        <p:nvSpPr>
          <p:cNvPr id="16" name="Shape 14"/>
          <p:cNvSpPr/>
          <p:nvPr/>
        </p:nvSpPr>
        <p:spPr>
          <a:xfrm>
            <a:off x="6556248" y="3154680"/>
            <a:ext cx="128016" cy="128016"/>
          </a:xfrm>
          <a:prstGeom prst="ellipse">
            <a:avLst/>
          </a:prstGeom>
          <a:solidFill>
            <a:srgbClr val="00B4D8"/>
          </a:solidFill>
          <a:ln/>
        </p:spPr>
      </p:sp>
      <p:sp>
        <p:nvSpPr>
          <p:cNvPr id="17" name="Text 15"/>
          <p:cNvSpPr txBox="1"/>
          <p:nvPr/>
        </p:nvSpPr>
        <p:spPr>
          <a:xfrm>
            <a:off x="6812280" y="3063240"/>
            <a:ext cx="4663440" cy="1152144"/>
          </a:xfrm>
          <a:prstGeom prst="rect">
            <a:avLst/>
          </a:prstGeom>
          <a:noFill/>
          <a:ln/>
        </p:spPr>
        <p:txBody>
          <a:bodyPr wrap="square" lIns="0" tIns="0" rIns="0" bIns="0" rtlCol="0" anchor="t"/>
          <a:lstStyle/>
          <a:p>
            <a:pPr indent="0" marL="0">
              <a:buNone/>
            </a:pPr>
            <a:r>
              <a:rPr lang="en-US" sz="1150" dirty="0">
                <a:solidFill>
                  <a:srgbClr val="14314F"/>
                </a:solidFill>
                <a:latin typeface="Calibri" pitchFamily="34" charset="0"/>
                <a:ea typeface="Calibri" pitchFamily="34" charset="-122"/>
                <a:cs typeface="Calibri" pitchFamily="34" charset="-120"/>
              </a:rPr>
              <a:t>Manual review by security teams is slow, costly, and cannot scale to the thousands of new phishing sites created daily.</a:t>
            </a:r>
            <a:endParaRPr lang="en-US" sz="1150" dirty="0"/>
          </a:p>
        </p:txBody>
      </p:sp>
      <p:sp>
        <p:nvSpPr>
          <p:cNvPr id="18" name="Shape 16"/>
          <p:cNvSpPr/>
          <p:nvPr/>
        </p:nvSpPr>
        <p:spPr>
          <a:xfrm>
            <a:off x="6355080" y="4489704"/>
            <a:ext cx="5257800" cy="1371600"/>
          </a:xfrm>
          <a:prstGeom prst="roundRect">
            <a:avLst>
              <a:gd name="adj" fmla="val 4667"/>
            </a:avLst>
          </a:prstGeom>
          <a:solidFill>
            <a:srgbClr val="EAF2FA"/>
          </a:solidFill>
          <a:ln/>
        </p:spPr>
      </p:sp>
      <p:sp>
        <p:nvSpPr>
          <p:cNvPr id="19" name="Shape 17"/>
          <p:cNvSpPr/>
          <p:nvPr/>
        </p:nvSpPr>
        <p:spPr>
          <a:xfrm>
            <a:off x="6556248" y="4690872"/>
            <a:ext cx="128016" cy="128016"/>
          </a:xfrm>
          <a:prstGeom prst="ellipse">
            <a:avLst/>
          </a:prstGeom>
          <a:solidFill>
            <a:srgbClr val="00B4D8"/>
          </a:solidFill>
          <a:ln/>
        </p:spPr>
      </p:sp>
      <p:sp>
        <p:nvSpPr>
          <p:cNvPr id="20" name="Text 18"/>
          <p:cNvSpPr txBox="1"/>
          <p:nvPr/>
        </p:nvSpPr>
        <p:spPr>
          <a:xfrm>
            <a:off x="6812280" y="4599432"/>
            <a:ext cx="4663440" cy="1152144"/>
          </a:xfrm>
          <a:prstGeom prst="rect">
            <a:avLst/>
          </a:prstGeom>
          <a:noFill/>
          <a:ln/>
        </p:spPr>
        <p:txBody>
          <a:bodyPr wrap="square" lIns="0" tIns="0" rIns="0" bIns="0" rtlCol="0" anchor="t"/>
          <a:lstStyle/>
          <a:p>
            <a:pPr indent="0" marL="0">
              <a:buNone/>
            </a:pPr>
            <a:r>
              <a:rPr lang="en-US" sz="1150" dirty="0">
                <a:solidFill>
                  <a:srgbClr val="14314F"/>
                </a:solidFill>
                <a:latin typeface="Calibri" pitchFamily="34" charset="0"/>
                <a:ea typeface="Calibri" pitchFamily="34" charset="-122"/>
                <a:cs typeface="Calibri" pitchFamily="34" charset="-120"/>
              </a:rPr>
              <a:t>There is a clear need for an adaptive, automated, machine learning–driven system capable of real-time, high-accuracy classification.</a:t>
            </a:r>
            <a:endParaRPr lang="en-US" sz="1150" dirty="0"/>
          </a:p>
        </p:txBody>
      </p:sp>
      <p:sp>
        <p:nvSpPr>
          <p:cNvPr id="21" name="Text 19"/>
          <p:cNvSpPr txBox="1"/>
          <p:nvPr/>
        </p:nvSpPr>
        <p:spPr>
          <a:xfrm>
            <a:off x="548640" y="6172200"/>
            <a:ext cx="10058400" cy="274320"/>
          </a:xfrm>
          <a:prstGeom prst="rect">
            <a:avLst/>
          </a:prstGeom>
          <a:noFill/>
          <a:ln/>
        </p:spPr>
        <p:txBody>
          <a:bodyPr wrap="square" lIns="0" tIns="0" rIns="0" bIns="0" rtlCol="0" anchor="ctr"/>
          <a:lstStyle/>
          <a:p>
            <a:pPr indent="0" marL="0">
              <a:buNone/>
            </a:pPr>
            <a:r>
              <a:rPr lang="en-US" sz="900" i="1" dirty="0">
                <a:solidFill>
                  <a:srgbClr val="8A9BB0"/>
                </a:solidFill>
                <a:latin typeface="Calibri" pitchFamily="34" charset="0"/>
                <a:ea typeface="Calibri" pitchFamily="34" charset="-122"/>
                <a:cs typeface="Calibri" pitchFamily="34" charset="-120"/>
              </a:rPr>
              <a:t>Source: Anti-Phishing Working Group (APWG), Phishing Activity Trends Report, 2025</a:t>
            </a:r>
            <a:endParaRPr lang="en-US" sz="900" dirty="0"/>
          </a:p>
        </p:txBody>
      </p:sp>
      <p:sp>
        <p:nvSpPr>
          <p:cNvPr id="22" name="Text 20"/>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A9BB0"/>
                </a:solidFill>
                <a:latin typeface="Calibri" pitchFamily="34" charset="0"/>
                <a:ea typeface="Calibri" pitchFamily="34" charset="-122"/>
                <a:cs typeface="Calibri" pitchFamily="34" charset="-120"/>
              </a:rPr>
              <a:t>Phishing Website Detection Using Machine Learning</a:t>
            </a:r>
            <a:endParaRPr lang="en-US" sz="900" dirty="0"/>
          </a:p>
        </p:txBody>
      </p:sp>
      <p:sp>
        <p:nvSpPr>
          <p:cNvPr id="23" name="Text 21"/>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502920"/>
            <a:ext cx="10515600" cy="548640"/>
          </a:xfrm>
          <a:prstGeom prst="rect">
            <a:avLst/>
          </a:prstGeom>
          <a:noFill/>
          <a:ln/>
        </p:spPr>
        <p:txBody>
          <a:bodyPr wrap="square" rtlCol="0"/>
          <a:lstStyle/>
          <a:p>
            <a:pPr algn="l" indent="0" marL="0">
              <a:buNone/>
            </a:pPr>
            <a:r>
              <a:rPr lang="en-US" sz="3000" b="1" dirty="0">
                <a:solidFill>
                  <a:srgbClr val="0B1F3A"/>
                </a:solidFill>
                <a:latin typeface="Cambria" pitchFamily="34" charset="0"/>
                <a:ea typeface="Cambria" pitchFamily="34" charset="-122"/>
                <a:cs typeface="Cambria" pitchFamily="34" charset="-120"/>
              </a:rPr>
              <a:t>SYSTEM FLOW DIAGRAM</a:t>
            </a:r>
            <a:endParaRPr lang="en-US" sz="3000" dirty="0"/>
          </a:p>
        </p:txBody>
      </p:sp>
      <p:sp>
        <p:nvSpPr>
          <p:cNvPr id="3" name="Shape 1"/>
          <p:cNvSpPr/>
          <p:nvPr/>
        </p:nvSpPr>
        <p:spPr>
          <a:xfrm>
            <a:off x="548640" y="2377440"/>
            <a:ext cx="1600200" cy="1600200"/>
          </a:xfrm>
          <a:prstGeom prst="roundRect">
            <a:avLst>
              <a:gd name="adj" fmla="val 5714"/>
            </a:avLst>
          </a:prstGeom>
          <a:solidFill>
            <a:srgbClr val="EAF2FA"/>
          </a:solidFill>
          <a:ln w="19050">
            <a:solidFill>
              <a:srgbClr val="1C3F66"/>
            </a:solidFill>
            <a:prstDash val="solid"/>
          </a:ln>
        </p:spPr>
      </p:sp>
      <p:sp>
        <p:nvSpPr>
          <p:cNvPr id="4" name="Shape 2"/>
          <p:cNvSpPr/>
          <p:nvPr/>
        </p:nvSpPr>
        <p:spPr>
          <a:xfrm>
            <a:off x="1074420" y="2542032"/>
            <a:ext cx="548640" cy="548640"/>
          </a:xfrm>
          <a:prstGeom prst="ellipse">
            <a:avLst/>
          </a:prstGeom>
          <a:solidFill>
            <a:srgbClr val="1C3F66"/>
          </a:solidFill>
          <a:ln/>
        </p:spPr>
      </p:sp>
      <p:sp>
        <p:nvSpPr>
          <p:cNvPr id="5" name="Text 3"/>
          <p:cNvSpPr txBox="1"/>
          <p:nvPr/>
        </p:nvSpPr>
        <p:spPr>
          <a:xfrm>
            <a:off x="1074420" y="25420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txBox="1"/>
          <p:nvPr/>
        </p:nvSpPr>
        <p:spPr>
          <a:xfrm>
            <a:off x="621792" y="3218688"/>
            <a:ext cx="1453896" cy="685800"/>
          </a:xfrm>
          <a:prstGeom prst="rect">
            <a:avLst/>
          </a:prstGeom>
          <a:noFill/>
          <a:ln/>
        </p:spPr>
        <p:txBody>
          <a:bodyPr wrap="square" lIns="0" tIns="0" rIns="0" bIns="0" rtlCol="0" anchor="t"/>
          <a:lstStyle/>
          <a:p>
            <a:pPr algn="ctr" indent="0" marL="0">
              <a:buNone/>
            </a:pPr>
            <a:r>
              <a:rPr lang="en-US" sz="1100" b="1" dirty="0">
                <a:solidFill>
                  <a:srgbClr val="0B1F3A"/>
                </a:solidFill>
                <a:latin typeface="Calibri" pitchFamily="34" charset="0"/>
                <a:ea typeface="Calibri" pitchFamily="34" charset="-122"/>
                <a:cs typeface="Calibri" pitchFamily="34" charset="-120"/>
              </a:rPr>
              <a:t>URL / Website</a:t>
            </a:r>
            <a:endParaRPr lang="en-US" sz="1100" dirty="0"/>
          </a:p>
          <a:p>
            <a:pPr algn="ctr" indent="0" marL="0">
              <a:buNone/>
            </a:pPr>
            <a:r>
              <a:rPr lang="en-US" sz="1100" b="1" dirty="0">
                <a:solidFill>
                  <a:srgbClr val="0B1F3A"/>
                </a:solidFill>
                <a:latin typeface="Calibri" pitchFamily="34" charset="0"/>
                <a:ea typeface="Calibri" pitchFamily="34" charset="-122"/>
                <a:cs typeface="Calibri" pitchFamily="34" charset="-120"/>
              </a:rPr>
              <a:t>Input</a:t>
            </a:r>
            <a:endParaRPr lang="en-US" sz="1100" dirty="0"/>
          </a:p>
        </p:txBody>
      </p:sp>
      <p:sp>
        <p:nvSpPr>
          <p:cNvPr id="7" name="Shape 5"/>
          <p:cNvSpPr/>
          <p:nvPr/>
        </p:nvSpPr>
        <p:spPr>
          <a:xfrm>
            <a:off x="2168591" y="3058668"/>
            <a:ext cx="70226" cy="237744"/>
          </a:xfrm>
          <a:prstGeom prst="rightArrow">
            <a:avLst/>
          </a:prstGeom>
          <a:solidFill>
            <a:srgbClr val="00B4D8"/>
          </a:solidFill>
          <a:ln/>
        </p:spPr>
      </p:sp>
      <p:sp>
        <p:nvSpPr>
          <p:cNvPr id="8" name="Shape 6"/>
          <p:cNvSpPr/>
          <p:nvPr/>
        </p:nvSpPr>
        <p:spPr>
          <a:xfrm>
            <a:off x="2258568" y="2377440"/>
            <a:ext cx="1600200" cy="1600200"/>
          </a:xfrm>
          <a:prstGeom prst="roundRect">
            <a:avLst>
              <a:gd name="adj" fmla="val 5714"/>
            </a:avLst>
          </a:prstGeom>
          <a:solidFill>
            <a:srgbClr val="EAF2FA"/>
          </a:solidFill>
          <a:ln w="19050">
            <a:solidFill>
              <a:srgbClr val="0096C7"/>
            </a:solidFill>
            <a:prstDash val="solid"/>
          </a:ln>
        </p:spPr>
      </p:sp>
      <p:sp>
        <p:nvSpPr>
          <p:cNvPr id="9" name="Shape 7"/>
          <p:cNvSpPr/>
          <p:nvPr/>
        </p:nvSpPr>
        <p:spPr>
          <a:xfrm>
            <a:off x="2784348" y="2542032"/>
            <a:ext cx="548640" cy="548640"/>
          </a:xfrm>
          <a:prstGeom prst="ellipse">
            <a:avLst/>
          </a:prstGeom>
          <a:solidFill>
            <a:srgbClr val="0096C7"/>
          </a:solidFill>
          <a:ln/>
        </p:spPr>
      </p:sp>
      <p:sp>
        <p:nvSpPr>
          <p:cNvPr id="10" name="Text 8"/>
          <p:cNvSpPr txBox="1"/>
          <p:nvPr/>
        </p:nvSpPr>
        <p:spPr>
          <a:xfrm>
            <a:off x="2784348" y="25420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1" name="Text 9"/>
          <p:cNvSpPr txBox="1"/>
          <p:nvPr/>
        </p:nvSpPr>
        <p:spPr>
          <a:xfrm>
            <a:off x="2331720" y="3218688"/>
            <a:ext cx="1453896" cy="685800"/>
          </a:xfrm>
          <a:prstGeom prst="rect">
            <a:avLst/>
          </a:prstGeom>
          <a:noFill/>
          <a:ln/>
        </p:spPr>
        <p:txBody>
          <a:bodyPr wrap="square" lIns="0" tIns="0" rIns="0" bIns="0" rtlCol="0" anchor="t"/>
          <a:lstStyle/>
          <a:p>
            <a:pPr algn="ctr" indent="0" marL="0">
              <a:buNone/>
            </a:pPr>
            <a:r>
              <a:rPr lang="en-US" sz="1100" b="1" dirty="0">
                <a:solidFill>
                  <a:srgbClr val="0B1F3A"/>
                </a:solidFill>
                <a:latin typeface="Calibri" pitchFamily="34" charset="0"/>
                <a:ea typeface="Calibri" pitchFamily="34" charset="-122"/>
                <a:cs typeface="Calibri" pitchFamily="34" charset="-120"/>
              </a:rPr>
              <a:t>Feature</a:t>
            </a:r>
            <a:endParaRPr lang="en-US" sz="1100" dirty="0"/>
          </a:p>
          <a:p>
            <a:pPr algn="ctr" indent="0" marL="0">
              <a:buNone/>
            </a:pPr>
            <a:r>
              <a:rPr lang="en-US" sz="1100" b="1" dirty="0">
                <a:solidFill>
                  <a:srgbClr val="0B1F3A"/>
                </a:solidFill>
                <a:latin typeface="Calibri" pitchFamily="34" charset="0"/>
                <a:ea typeface="Calibri" pitchFamily="34" charset="-122"/>
                <a:cs typeface="Calibri" pitchFamily="34" charset="-120"/>
              </a:rPr>
              <a:t>Extraction</a:t>
            </a:r>
            <a:endParaRPr lang="en-US" sz="1100" dirty="0"/>
          </a:p>
        </p:txBody>
      </p:sp>
      <p:sp>
        <p:nvSpPr>
          <p:cNvPr id="12" name="Shape 10"/>
          <p:cNvSpPr/>
          <p:nvPr/>
        </p:nvSpPr>
        <p:spPr>
          <a:xfrm>
            <a:off x="3878519" y="3058668"/>
            <a:ext cx="70226" cy="237744"/>
          </a:xfrm>
          <a:prstGeom prst="rightArrow">
            <a:avLst/>
          </a:prstGeom>
          <a:solidFill>
            <a:srgbClr val="00B4D8"/>
          </a:solidFill>
          <a:ln/>
        </p:spPr>
      </p:sp>
      <p:sp>
        <p:nvSpPr>
          <p:cNvPr id="13" name="Shape 11"/>
          <p:cNvSpPr/>
          <p:nvPr/>
        </p:nvSpPr>
        <p:spPr>
          <a:xfrm>
            <a:off x="3968496" y="2377440"/>
            <a:ext cx="1600200" cy="1600200"/>
          </a:xfrm>
          <a:prstGeom prst="roundRect">
            <a:avLst>
              <a:gd name="adj" fmla="val 5714"/>
            </a:avLst>
          </a:prstGeom>
          <a:solidFill>
            <a:srgbClr val="EAF2FA"/>
          </a:solidFill>
          <a:ln w="19050">
            <a:solidFill>
              <a:srgbClr val="00B4D8"/>
            </a:solidFill>
            <a:prstDash val="solid"/>
          </a:ln>
        </p:spPr>
      </p:sp>
      <p:sp>
        <p:nvSpPr>
          <p:cNvPr id="14" name="Shape 12"/>
          <p:cNvSpPr/>
          <p:nvPr/>
        </p:nvSpPr>
        <p:spPr>
          <a:xfrm>
            <a:off x="4494276" y="2542032"/>
            <a:ext cx="548640" cy="548640"/>
          </a:xfrm>
          <a:prstGeom prst="ellipse">
            <a:avLst/>
          </a:prstGeom>
          <a:solidFill>
            <a:srgbClr val="00B4D8"/>
          </a:solidFill>
          <a:ln/>
        </p:spPr>
      </p:sp>
      <p:sp>
        <p:nvSpPr>
          <p:cNvPr id="15" name="Text 13"/>
          <p:cNvSpPr txBox="1"/>
          <p:nvPr/>
        </p:nvSpPr>
        <p:spPr>
          <a:xfrm>
            <a:off x="4494276" y="25420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6" name="Text 14"/>
          <p:cNvSpPr txBox="1"/>
          <p:nvPr/>
        </p:nvSpPr>
        <p:spPr>
          <a:xfrm>
            <a:off x="4041648" y="3218688"/>
            <a:ext cx="1453896" cy="685800"/>
          </a:xfrm>
          <a:prstGeom prst="rect">
            <a:avLst/>
          </a:prstGeom>
          <a:noFill/>
          <a:ln/>
        </p:spPr>
        <p:txBody>
          <a:bodyPr wrap="square" lIns="0" tIns="0" rIns="0" bIns="0" rtlCol="0" anchor="t"/>
          <a:lstStyle/>
          <a:p>
            <a:pPr algn="ctr" indent="0" marL="0">
              <a:buNone/>
            </a:pPr>
            <a:r>
              <a:rPr lang="en-US" sz="1100" b="1" dirty="0">
                <a:solidFill>
                  <a:srgbClr val="0B1F3A"/>
                </a:solidFill>
                <a:latin typeface="Calibri" pitchFamily="34" charset="0"/>
                <a:ea typeface="Calibri" pitchFamily="34" charset="-122"/>
                <a:cs typeface="Calibri" pitchFamily="34" charset="-120"/>
              </a:rPr>
              <a:t>Data</a:t>
            </a:r>
            <a:endParaRPr lang="en-US" sz="1100" dirty="0"/>
          </a:p>
          <a:p>
            <a:pPr algn="ctr" indent="0" marL="0">
              <a:buNone/>
            </a:pPr>
            <a:r>
              <a:rPr lang="en-US" sz="1100" b="1" dirty="0">
                <a:solidFill>
                  <a:srgbClr val="0B1F3A"/>
                </a:solidFill>
                <a:latin typeface="Calibri" pitchFamily="34" charset="0"/>
                <a:ea typeface="Calibri" pitchFamily="34" charset="-122"/>
                <a:cs typeface="Calibri" pitchFamily="34" charset="-120"/>
              </a:rPr>
              <a:t>Preprocessing</a:t>
            </a:r>
            <a:endParaRPr lang="en-US" sz="1100" dirty="0"/>
          </a:p>
        </p:txBody>
      </p:sp>
      <p:sp>
        <p:nvSpPr>
          <p:cNvPr id="17" name="Shape 15"/>
          <p:cNvSpPr/>
          <p:nvPr/>
        </p:nvSpPr>
        <p:spPr>
          <a:xfrm>
            <a:off x="5588447" y="3058668"/>
            <a:ext cx="70226" cy="237744"/>
          </a:xfrm>
          <a:prstGeom prst="rightArrow">
            <a:avLst/>
          </a:prstGeom>
          <a:solidFill>
            <a:srgbClr val="00B4D8"/>
          </a:solidFill>
          <a:ln/>
        </p:spPr>
      </p:sp>
      <p:sp>
        <p:nvSpPr>
          <p:cNvPr id="18" name="Shape 16"/>
          <p:cNvSpPr/>
          <p:nvPr/>
        </p:nvSpPr>
        <p:spPr>
          <a:xfrm>
            <a:off x="5678424" y="2377440"/>
            <a:ext cx="1600200" cy="1600200"/>
          </a:xfrm>
          <a:prstGeom prst="roundRect">
            <a:avLst>
              <a:gd name="adj" fmla="val 5714"/>
            </a:avLst>
          </a:prstGeom>
          <a:solidFill>
            <a:srgbClr val="EAF2FA"/>
          </a:solidFill>
          <a:ln w="19050">
            <a:solidFill>
              <a:srgbClr val="0096C7"/>
            </a:solidFill>
            <a:prstDash val="solid"/>
          </a:ln>
        </p:spPr>
      </p:sp>
      <p:sp>
        <p:nvSpPr>
          <p:cNvPr id="19" name="Shape 17"/>
          <p:cNvSpPr/>
          <p:nvPr/>
        </p:nvSpPr>
        <p:spPr>
          <a:xfrm>
            <a:off x="6204204" y="2542032"/>
            <a:ext cx="548640" cy="548640"/>
          </a:xfrm>
          <a:prstGeom prst="ellipse">
            <a:avLst/>
          </a:prstGeom>
          <a:solidFill>
            <a:srgbClr val="0096C7"/>
          </a:solidFill>
          <a:ln/>
        </p:spPr>
      </p:sp>
      <p:sp>
        <p:nvSpPr>
          <p:cNvPr id="20" name="Text 18"/>
          <p:cNvSpPr txBox="1"/>
          <p:nvPr/>
        </p:nvSpPr>
        <p:spPr>
          <a:xfrm>
            <a:off x="6204204" y="25420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1" name="Text 19"/>
          <p:cNvSpPr txBox="1"/>
          <p:nvPr/>
        </p:nvSpPr>
        <p:spPr>
          <a:xfrm>
            <a:off x="5751576" y="3218688"/>
            <a:ext cx="1453896" cy="685800"/>
          </a:xfrm>
          <a:prstGeom prst="rect">
            <a:avLst/>
          </a:prstGeom>
          <a:noFill/>
          <a:ln/>
        </p:spPr>
        <p:txBody>
          <a:bodyPr wrap="square" lIns="0" tIns="0" rIns="0" bIns="0" rtlCol="0" anchor="t"/>
          <a:lstStyle/>
          <a:p>
            <a:pPr algn="ctr" indent="0" marL="0">
              <a:buNone/>
            </a:pPr>
            <a:r>
              <a:rPr lang="en-US" sz="1100" b="1" dirty="0">
                <a:solidFill>
                  <a:srgbClr val="0B1F3A"/>
                </a:solidFill>
                <a:latin typeface="Calibri" pitchFamily="34" charset="0"/>
                <a:ea typeface="Calibri" pitchFamily="34" charset="-122"/>
                <a:cs typeface="Calibri" pitchFamily="34" charset="-120"/>
              </a:rPr>
              <a:t>ML Model</a:t>
            </a:r>
            <a:endParaRPr lang="en-US" sz="1100" dirty="0"/>
          </a:p>
          <a:p>
            <a:pPr algn="ctr" indent="0" marL="0">
              <a:buNone/>
            </a:pPr>
            <a:r>
              <a:rPr lang="en-US" sz="1100" b="1" dirty="0">
                <a:solidFill>
                  <a:srgbClr val="0B1F3A"/>
                </a:solidFill>
                <a:latin typeface="Calibri" pitchFamily="34" charset="0"/>
                <a:ea typeface="Calibri" pitchFamily="34" charset="-122"/>
                <a:cs typeface="Calibri" pitchFamily="34" charset="-120"/>
              </a:rPr>
              <a:t>Classification</a:t>
            </a:r>
            <a:endParaRPr lang="en-US" sz="1100" dirty="0"/>
          </a:p>
        </p:txBody>
      </p:sp>
      <p:sp>
        <p:nvSpPr>
          <p:cNvPr id="22" name="Shape 20"/>
          <p:cNvSpPr/>
          <p:nvPr/>
        </p:nvSpPr>
        <p:spPr>
          <a:xfrm>
            <a:off x="7298375" y="3058668"/>
            <a:ext cx="70226" cy="237744"/>
          </a:xfrm>
          <a:prstGeom prst="rightArrow">
            <a:avLst/>
          </a:prstGeom>
          <a:solidFill>
            <a:srgbClr val="00B4D8"/>
          </a:solidFill>
          <a:ln/>
        </p:spPr>
      </p:sp>
      <p:sp>
        <p:nvSpPr>
          <p:cNvPr id="23" name="Shape 21"/>
          <p:cNvSpPr/>
          <p:nvPr/>
        </p:nvSpPr>
        <p:spPr>
          <a:xfrm>
            <a:off x="7388352" y="2377440"/>
            <a:ext cx="1600200" cy="1600200"/>
          </a:xfrm>
          <a:prstGeom prst="roundRect">
            <a:avLst>
              <a:gd name="adj" fmla="val 5714"/>
            </a:avLst>
          </a:prstGeom>
          <a:solidFill>
            <a:srgbClr val="EAF2FA"/>
          </a:solidFill>
          <a:ln w="19050">
            <a:solidFill>
              <a:srgbClr val="1C3F66"/>
            </a:solidFill>
            <a:prstDash val="solid"/>
          </a:ln>
        </p:spPr>
      </p:sp>
      <p:sp>
        <p:nvSpPr>
          <p:cNvPr id="24" name="Shape 22"/>
          <p:cNvSpPr/>
          <p:nvPr/>
        </p:nvSpPr>
        <p:spPr>
          <a:xfrm>
            <a:off x="7914132" y="2542032"/>
            <a:ext cx="548640" cy="548640"/>
          </a:xfrm>
          <a:prstGeom prst="ellipse">
            <a:avLst/>
          </a:prstGeom>
          <a:solidFill>
            <a:srgbClr val="1C3F66"/>
          </a:solidFill>
          <a:ln/>
        </p:spPr>
      </p:sp>
      <p:sp>
        <p:nvSpPr>
          <p:cNvPr id="25" name="Text 23"/>
          <p:cNvSpPr txBox="1"/>
          <p:nvPr/>
        </p:nvSpPr>
        <p:spPr>
          <a:xfrm>
            <a:off x="7914132" y="25420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6" name="Text 24"/>
          <p:cNvSpPr txBox="1"/>
          <p:nvPr/>
        </p:nvSpPr>
        <p:spPr>
          <a:xfrm>
            <a:off x="7461504" y="3218688"/>
            <a:ext cx="1453896" cy="685800"/>
          </a:xfrm>
          <a:prstGeom prst="rect">
            <a:avLst/>
          </a:prstGeom>
          <a:noFill/>
          <a:ln/>
        </p:spPr>
        <p:txBody>
          <a:bodyPr wrap="square" lIns="0" tIns="0" rIns="0" bIns="0" rtlCol="0" anchor="t"/>
          <a:lstStyle/>
          <a:p>
            <a:pPr algn="ctr" indent="0" marL="0">
              <a:buNone/>
            </a:pPr>
            <a:r>
              <a:rPr lang="en-US" sz="1100" b="1" dirty="0">
                <a:solidFill>
                  <a:srgbClr val="0B1F3A"/>
                </a:solidFill>
                <a:latin typeface="Calibri" pitchFamily="34" charset="0"/>
                <a:ea typeface="Calibri" pitchFamily="34" charset="-122"/>
                <a:cs typeface="Calibri" pitchFamily="34" charset="-120"/>
              </a:rPr>
              <a:t>Decision:</a:t>
            </a:r>
            <a:endParaRPr lang="en-US" sz="1100" dirty="0"/>
          </a:p>
          <a:p>
            <a:pPr algn="ctr" indent="0" marL="0">
              <a:buNone/>
            </a:pPr>
            <a:r>
              <a:rPr lang="en-US" sz="1100" b="1" dirty="0">
                <a:solidFill>
                  <a:srgbClr val="0B1F3A"/>
                </a:solidFill>
                <a:latin typeface="Calibri" pitchFamily="34" charset="0"/>
                <a:ea typeface="Calibri" pitchFamily="34" charset="-122"/>
                <a:cs typeface="Calibri" pitchFamily="34" charset="-120"/>
              </a:rPr>
              <a:t>Phishing / Legit</a:t>
            </a:r>
            <a:endParaRPr lang="en-US" sz="1100" dirty="0"/>
          </a:p>
        </p:txBody>
      </p:sp>
      <p:sp>
        <p:nvSpPr>
          <p:cNvPr id="27" name="Shape 25"/>
          <p:cNvSpPr/>
          <p:nvPr/>
        </p:nvSpPr>
        <p:spPr>
          <a:xfrm>
            <a:off x="9008303" y="3058668"/>
            <a:ext cx="70226" cy="237744"/>
          </a:xfrm>
          <a:prstGeom prst="rightArrow">
            <a:avLst/>
          </a:prstGeom>
          <a:solidFill>
            <a:srgbClr val="00B4D8"/>
          </a:solidFill>
          <a:ln/>
        </p:spPr>
      </p:sp>
      <p:sp>
        <p:nvSpPr>
          <p:cNvPr id="28" name="Shape 26"/>
          <p:cNvSpPr/>
          <p:nvPr/>
        </p:nvSpPr>
        <p:spPr>
          <a:xfrm>
            <a:off x="9098280" y="2377440"/>
            <a:ext cx="1600200" cy="1600200"/>
          </a:xfrm>
          <a:prstGeom prst="roundRect">
            <a:avLst>
              <a:gd name="adj" fmla="val 5714"/>
            </a:avLst>
          </a:prstGeom>
          <a:solidFill>
            <a:srgbClr val="EAF2FA"/>
          </a:solidFill>
          <a:ln w="19050">
            <a:solidFill>
              <a:srgbClr val="FF5A5F"/>
            </a:solidFill>
            <a:prstDash val="solid"/>
          </a:ln>
        </p:spPr>
      </p:sp>
      <p:sp>
        <p:nvSpPr>
          <p:cNvPr id="29" name="Shape 27"/>
          <p:cNvSpPr/>
          <p:nvPr/>
        </p:nvSpPr>
        <p:spPr>
          <a:xfrm>
            <a:off x="9624060" y="2542032"/>
            <a:ext cx="548640" cy="548640"/>
          </a:xfrm>
          <a:prstGeom prst="ellipse">
            <a:avLst/>
          </a:prstGeom>
          <a:solidFill>
            <a:srgbClr val="FF5A5F"/>
          </a:solidFill>
          <a:ln/>
        </p:spPr>
      </p:sp>
      <p:sp>
        <p:nvSpPr>
          <p:cNvPr id="30" name="Text 28"/>
          <p:cNvSpPr txBox="1"/>
          <p:nvPr/>
        </p:nvSpPr>
        <p:spPr>
          <a:xfrm>
            <a:off x="9624060" y="25420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1" name="Text 29"/>
          <p:cNvSpPr txBox="1"/>
          <p:nvPr/>
        </p:nvSpPr>
        <p:spPr>
          <a:xfrm>
            <a:off x="9171432" y="3218688"/>
            <a:ext cx="1453896" cy="685800"/>
          </a:xfrm>
          <a:prstGeom prst="rect">
            <a:avLst/>
          </a:prstGeom>
          <a:noFill/>
          <a:ln/>
        </p:spPr>
        <p:txBody>
          <a:bodyPr wrap="square" lIns="0" tIns="0" rIns="0" bIns="0" rtlCol="0" anchor="t"/>
          <a:lstStyle/>
          <a:p>
            <a:pPr algn="ctr" indent="0" marL="0">
              <a:buNone/>
            </a:pPr>
            <a:r>
              <a:rPr lang="en-US" sz="1100" b="1" dirty="0">
                <a:solidFill>
                  <a:srgbClr val="0B1F3A"/>
                </a:solidFill>
                <a:latin typeface="Calibri" pitchFamily="34" charset="0"/>
                <a:ea typeface="Calibri" pitchFamily="34" charset="-122"/>
                <a:cs typeface="Calibri" pitchFamily="34" charset="-120"/>
              </a:rPr>
              <a:t>Alert, Block</a:t>
            </a:r>
            <a:endParaRPr lang="en-US" sz="1100" dirty="0"/>
          </a:p>
          <a:p>
            <a:pPr algn="ctr" indent="0" marL="0">
              <a:buNone/>
            </a:pPr>
            <a:r>
              <a:rPr lang="en-US" sz="1100" b="1" dirty="0">
                <a:solidFill>
                  <a:srgbClr val="0B1F3A"/>
                </a:solidFill>
                <a:latin typeface="Calibri" pitchFamily="34" charset="0"/>
                <a:ea typeface="Calibri" pitchFamily="34" charset="-122"/>
                <a:cs typeface="Calibri" pitchFamily="34" charset="-120"/>
              </a:rPr>
              <a:t>&amp; Log Result</a:t>
            </a:r>
            <a:endParaRPr lang="en-US" sz="1100" dirty="0"/>
          </a:p>
        </p:txBody>
      </p:sp>
      <p:sp>
        <p:nvSpPr>
          <p:cNvPr id="32" name="Text 30"/>
          <p:cNvSpPr txBox="1"/>
          <p:nvPr/>
        </p:nvSpPr>
        <p:spPr>
          <a:xfrm>
            <a:off x="548640" y="4434840"/>
            <a:ext cx="5486400" cy="32004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Feature categories extracted in Step 2:</a:t>
            </a:r>
            <a:endParaRPr lang="en-US" sz="1400" dirty="0"/>
          </a:p>
        </p:txBody>
      </p:sp>
      <p:sp>
        <p:nvSpPr>
          <p:cNvPr id="33" name="Shape 31"/>
          <p:cNvSpPr/>
          <p:nvPr/>
        </p:nvSpPr>
        <p:spPr>
          <a:xfrm>
            <a:off x="548640" y="4910328"/>
            <a:ext cx="109728" cy="109728"/>
          </a:xfrm>
          <a:prstGeom prst="ellipse">
            <a:avLst/>
          </a:prstGeom>
          <a:solidFill>
            <a:srgbClr val="00B4D8"/>
          </a:solidFill>
          <a:ln/>
        </p:spPr>
      </p:sp>
      <p:sp>
        <p:nvSpPr>
          <p:cNvPr id="34" name="Text 32"/>
          <p:cNvSpPr txBox="1"/>
          <p:nvPr/>
        </p:nvSpPr>
        <p:spPr>
          <a:xfrm>
            <a:off x="822960" y="4800600"/>
            <a:ext cx="4846320" cy="365760"/>
          </a:xfrm>
          <a:prstGeom prst="rect">
            <a:avLst/>
          </a:prstGeom>
          <a:noFill/>
          <a:ln/>
        </p:spPr>
        <p:txBody>
          <a:bodyPr wrap="square" lIns="0" tIns="0" rIns="0" bIns="0" rtlCol="0" anchor="ctr"/>
          <a:lstStyle/>
          <a:p>
            <a:pPr indent="0" marL="0">
              <a:buNone/>
            </a:pPr>
            <a:r>
              <a:rPr lang="en-US" sz="1150" dirty="0">
                <a:solidFill>
                  <a:srgbClr val="14314F"/>
                </a:solidFill>
                <a:latin typeface="Calibri" pitchFamily="34" charset="0"/>
                <a:ea typeface="Calibri" pitchFamily="34" charset="-122"/>
                <a:cs typeface="Calibri" pitchFamily="34" charset="-120"/>
              </a:rPr>
              <a:t>URL-based (length, symbols, @, IP address)</a:t>
            </a:r>
            <a:endParaRPr lang="en-US" sz="1150" dirty="0"/>
          </a:p>
        </p:txBody>
      </p:sp>
      <p:sp>
        <p:nvSpPr>
          <p:cNvPr id="35" name="Shape 33"/>
          <p:cNvSpPr/>
          <p:nvPr/>
        </p:nvSpPr>
        <p:spPr>
          <a:xfrm>
            <a:off x="5852160" y="4910328"/>
            <a:ext cx="109728" cy="109728"/>
          </a:xfrm>
          <a:prstGeom prst="ellipse">
            <a:avLst/>
          </a:prstGeom>
          <a:solidFill>
            <a:srgbClr val="00B4D8"/>
          </a:solidFill>
          <a:ln/>
        </p:spPr>
      </p:sp>
      <p:sp>
        <p:nvSpPr>
          <p:cNvPr id="36" name="Text 34"/>
          <p:cNvSpPr txBox="1"/>
          <p:nvPr/>
        </p:nvSpPr>
        <p:spPr>
          <a:xfrm>
            <a:off x="6126480" y="4800600"/>
            <a:ext cx="4846320" cy="365760"/>
          </a:xfrm>
          <a:prstGeom prst="rect">
            <a:avLst/>
          </a:prstGeom>
          <a:noFill/>
          <a:ln/>
        </p:spPr>
        <p:txBody>
          <a:bodyPr wrap="square" lIns="0" tIns="0" rIns="0" bIns="0" rtlCol="0" anchor="ctr"/>
          <a:lstStyle/>
          <a:p>
            <a:pPr indent="0" marL="0">
              <a:buNone/>
            </a:pPr>
            <a:r>
              <a:rPr lang="en-US" sz="1150" dirty="0">
                <a:solidFill>
                  <a:srgbClr val="14314F"/>
                </a:solidFill>
                <a:latin typeface="Calibri" pitchFamily="34" charset="0"/>
                <a:ea typeface="Calibri" pitchFamily="34" charset="-122"/>
                <a:cs typeface="Calibri" pitchFamily="34" charset="-120"/>
              </a:rPr>
              <a:t>Domain-based (age, WHOIS, SSL certificate)</a:t>
            </a:r>
            <a:endParaRPr lang="en-US" sz="1150" dirty="0"/>
          </a:p>
        </p:txBody>
      </p:sp>
      <p:sp>
        <p:nvSpPr>
          <p:cNvPr id="37" name="Shape 35"/>
          <p:cNvSpPr/>
          <p:nvPr/>
        </p:nvSpPr>
        <p:spPr>
          <a:xfrm>
            <a:off x="548640" y="5367528"/>
            <a:ext cx="109728" cy="109728"/>
          </a:xfrm>
          <a:prstGeom prst="ellipse">
            <a:avLst/>
          </a:prstGeom>
          <a:solidFill>
            <a:srgbClr val="00B4D8"/>
          </a:solidFill>
          <a:ln/>
        </p:spPr>
      </p:sp>
      <p:sp>
        <p:nvSpPr>
          <p:cNvPr id="38" name="Text 36"/>
          <p:cNvSpPr txBox="1"/>
          <p:nvPr/>
        </p:nvSpPr>
        <p:spPr>
          <a:xfrm>
            <a:off x="822960" y="5257800"/>
            <a:ext cx="4846320" cy="365760"/>
          </a:xfrm>
          <a:prstGeom prst="rect">
            <a:avLst/>
          </a:prstGeom>
          <a:noFill/>
          <a:ln/>
        </p:spPr>
        <p:txBody>
          <a:bodyPr wrap="square" lIns="0" tIns="0" rIns="0" bIns="0" rtlCol="0" anchor="ctr"/>
          <a:lstStyle/>
          <a:p>
            <a:pPr indent="0" marL="0">
              <a:buNone/>
            </a:pPr>
            <a:r>
              <a:rPr lang="en-US" sz="1150" dirty="0">
                <a:solidFill>
                  <a:srgbClr val="14314F"/>
                </a:solidFill>
                <a:latin typeface="Calibri" pitchFamily="34" charset="0"/>
                <a:ea typeface="Calibri" pitchFamily="34" charset="-122"/>
                <a:cs typeface="Calibri" pitchFamily="34" charset="-120"/>
              </a:rPr>
              <a:t>Content/HTML-based (forms, iframes, scripts)</a:t>
            </a:r>
            <a:endParaRPr lang="en-US" sz="1150" dirty="0"/>
          </a:p>
        </p:txBody>
      </p:sp>
      <p:sp>
        <p:nvSpPr>
          <p:cNvPr id="39" name="Shape 37"/>
          <p:cNvSpPr/>
          <p:nvPr/>
        </p:nvSpPr>
        <p:spPr>
          <a:xfrm>
            <a:off x="5852160" y="5367528"/>
            <a:ext cx="109728" cy="109728"/>
          </a:xfrm>
          <a:prstGeom prst="ellipse">
            <a:avLst/>
          </a:prstGeom>
          <a:solidFill>
            <a:srgbClr val="00B4D8"/>
          </a:solidFill>
          <a:ln/>
        </p:spPr>
      </p:sp>
      <p:sp>
        <p:nvSpPr>
          <p:cNvPr id="40" name="Text 38"/>
          <p:cNvSpPr txBox="1"/>
          <p:nvPr/>
        </p:nvSpPr>
        <p:spPr>
          <a:xfrm>
            <a:off x="6126480" y="5257800"/>
            <a:ext cx="4846320" cy="365760"/>
          </a:xfrm>
          <a:prstGeom prst="rect">
            <a:avLst/>
          </a:prstGeom>
          <a:noFill/>
          <a:ln/>
        </p:spPr>
        <p:txBody>
          <a:bodyPr wrap="square" lIns="0" tIns="0" rIns="0" bIns="0" rtlCol="0" anchor="ctr"/>
          <a:lstStyle/>
          <a:p>
            <a:pPr indent="0" marL="0">
              <a:buNone/>
            </a:pPr>
            <a:r>
              <a:rPr lang="en-US" sz="1150" dirty="0">
                <a:solidFill>
                  <a:srgbClr val="14314F"/>
                </a:solidFill>
                <a:latin typeface="Calibri" pitchFamily="34" charset="0"/>
                <a:ea typeface="Calibri" pitchFamily="34" charset="-122"/>
                <a:cs typeface="Calibri" pitchFamily="34" charset="-120"/>
              </a:rPr>
              <a:t>Abnormal-based (redirects, pop-ups, hidden links)</a:t>
            </a:r>
            <a:endParaRPr lang="en-US" sz="1150" dirty="0"/>
          </a:p>
        </p:txBody>
      </p:sp>
      <p:sp>
        <p:nvSpPr>
          <p:cNvPr id="41" name="Text 39"/>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A9BB0"/>
                </a:solidFill>
                <a:latin typeface="Calibri" pitchFamily="34" charset="0"/>
                <a:ea typeface="Calibri" pitchFamily="34" charset="-122"/>
                <a:cs typeface="Calibri" pitchFamily="34" charset="-120"/>
              </a:rPr>
              <a:t>Phishing Website Detection Using Machine Learning</a:t>
            </a:r>
            <a:endParaRPr lang="en-US" sz="900" dirty="0"/>
          </a:p>
        </p:txBody>
      </p:sp>
      <p:sp>
        <p:nvSpPr>
          <p:cNvPr id="42" name="Text 40"/>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22960" y="1371600"/>
            <a:ext cx="3657600" cy="914400"/>
          </a:xfrm>
          <a:prstGeom prst="rect">
            <a:avLst/>
          </a:prstGeom>
          <a:noFill/>
          <a:ln/>
        </p:spPr>
        <p:txBody>
          <a:bodyPr wrap="square" lIns="0" tIns="0" rIns="0" bIns="0" rtlCol="0" anchor="ctr"/>
          <a:lstStyle/>
          <a:p>
            <a:pPr indent="0" marL="0">
              <a:buNone/>
            </a:pPr>
            <a:r>
              <a:rPr lang="en-US" sz="6000" b="1" dirty="0">
                <a:solidFill>
                  <a:srgbClr val="14314F"/>
                </a:solidFill>
                <a:latin typeface="Cambria" pitchFamily="34" charset="0"/>
                <a:ea typeface="Cambria" pitchFamily="34" charset="-122"/>
                <a:cs typeface="Cambria" pitchFamily="34" charset="-120"/>
              </a:rPr>
              <a:t>02</a:t>
            </a:r>
            <a:endParaRPr lang="en-US" sz="6000" dirty="0"/>
          </a:p>
        </p:txBody>
      </p:sp>
      <p:sp>
        <p:nvSpPr>
          <p:cNvPr id="3" name="Text 1"/>
          <p:cNvSpPr/>
          <p:nvPr>
            <p:ph idx="102" type="body" hasCustomPrompt="1"/>
          </p:nvPr>
        </p:nvSpPr>
        <p:spPr>
          <a:xfrm>
            <a:off x="868680" y="2423160"/>
            <a:ext cx="7315200" cy="457200"/>
          </a:xfrm>
          <a:prstGeom prst="rect">
            <a:avLst/>
          </a:prstGeom>
          <a:noFill/>
          <a:ln/>
        </p:spPr>
        <p:txBody>
          <a:bodyPr wrap="square" rtlCol="0"/>
          <a:lstStyle/>
          <a:p>
            <a:pPr algn="l" indent="0" marL="0">
              <a:buNone/>
            </a:pPr>
            <a:r>
              <a:rPr lang="en-US" sz="1400" spc="300" kern="0" dirty="0">
                <a:solidFill>
                  <a:srgbClr val="00B4D8"/>
                </a:solidFill>
                <a:latin typeface="Calibri" pitchFamily="34" charset="0"/>
                <a:ea typeface="Calibri" pitchFamily="34" charset="-122"/>
                <a:cs typeface="Calibri" pitchFamily="34" charset="-120"/>
              </a:rPr>
              <a:t>LITERATURE SURVEY</a:t>
            </a:r>
            <a:endParaRPr lang="en-US" sz="1400" dirty="0"/>
          </a:p>
        </p:txBody>
      </p:sp>
      <p:sp>
        <p:nvSpPr>
          <p:cNvPr id="4" name="Text 1"/>
          <p:cNvSpPr/>
          <p:nvPr>
            <p:ph idx="101" type="title" hasCustomPrompt="1"/>
          </p:nvPr>
        </p:nvSpPr>
        <p:spPr>
          <a:xfrm>
            <a:off x="822960" y="2880360"/>
            <a:ext cx="10515600" cy="1188720"/>
          </a:xfrm>
          <a:prstGeom prst="rect">
            <a:avLst/>
          </a:prstGeom>
          <a:noFill/>
          <a:ln/>
        </p:spPr>
        <p:txBody>
          <a:bodyPr wrap="square" rtlCol="0"/>
          <a:lstStyle/>
          <a:p>
            <a:pPr algn="l" indent="0" marL="0">
              <a:buNone/>
            </a:pPr>
            <a:r>
              <a:rPr lang="en-US" sz="3800" b="1" dirty="0">
                <a:solidFill>
                  <a:srgbClr val="FFFFFF"/>
                </a:solidFill>
                <a:latin typeface="Cambria" pitchFamily="34" charset="0"/>
                <a:ea typeface="Cambria" pitchFamily="34" charset="-122"/>
                <a:cs typeface="Cambria" pitchFamily="34" charset="-120"/>
              </a:rPr>
              <a:t>Literature Survey</a:t>
            </a:r>
            <a:endParaRPr lang="en-US" sz="3800" dirty="0"/>
          </a:p>
        </p:txBody>
      </p:sp>
      <p:sp>
        <p:nvSpPr>
          <p:cNvPr id="5" name="Text 3"/>
          <p:cNvSpPr txBox="1"/>
          <p:nvPr/>
        </p:nvSpPr>
        <p:spPr>
          <a:xfrm>
            <a:off x="868680" y="4114800"/>
            <a:ext cx="8686800" cy="73152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A review of 16 research studies published between 2023 and 2026 on machine learning and deep learning approaches to phishing website detection.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title" hasCustomPrompt="1"/>
          </p:nvPr>
        </p:nvSpPr>
        <p:spPr>
          <a:xfrm>
            <a:off x="548640" y="502920"/>
            <a:ext cx="10515600" cy="548640"/>
          </a:xfrm>
          <a:prstGeom prst="rect">
            <a:avLst/>
          </a:prstGeom>
          <a:noFill/>
          <a:ln/>
        </p:spPr>
        <p:txBody>
          <a:bodyPr wrap="square" rtlCol="0"/>
          <a:lstStyle/>
          <a:p>
            <a:pPr algn="l" indent="0" marL="0">
              <a:buNone/>
            </a:pPr>
            <a:r>
              <a:rPr lang="en-US" sz="3000" b="1" dirty="0">
                <a:solidFill>
                  <a:srgbClr val="0B1F3A"/>
                </a:solidFill>
                <a:latin typeface="Cambria" pitchFamily="34" charset="0"/>
                <a:ea typeface="Cambria" pitchFamily="34" charset="-122"/>
                <a:cs typeface="Cambria" pitchFamily="34" charset="-120"/>
              </a:rPr>
              <a:t>LITERATURE SURVEY (1/4)</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0424160" cy="914400"/>
        </p:xfrm>
        <a:graphic>
          <a:graphicData uri="http://schemas.openxmlformats.org/drawingml/2006/table">
            <a:tbl>
              <a:tblPr/>
              <a:tblGrid>
                <a:gridCol w="731520"/>
                <a:gridCol w="2651760"/>
                <a:gridCol w="3108960"/>
                <a:gridCol w="3931920"/>
              </a:tblGrid>
              <a:tr h="0">
                <a:tc>
                  <a:txBody>
                    <a:bodyPr/>
                    <a:lstStyle/>
                    <a:p>
                      <a:pPr algn="l" indent="0" marL="0">
                        <a:buNone/>
                      </a:pPr>
                      <a:r>
                        <a:rPr lang="en-US" sz="1100" b="1" dirty="0">
                          <a:solidFill>
                            <a:srgbClr val="FFFFFF"/>
                          </a:solidFill>
                        </a:rPr>
                        <a:t>Year</a:t>
                      </a:r>
                      <a:endParaRPr lang="en-US" sz="1100" dirty="0"/>
                    </a:p>
                  </a:txBody>
                  <a:tcPr marL="76200" marR="76200" marT="50800" marB="50800" anchor="ctr">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1C3F66"/>
                    </a:solidFill>
                  </a:tcPr>
                </a:tc>
                <a:tc>
                  <a:txBody>
                    <a:bodyPr/>
                    <a:lstStyle/>
                    <a:p>
                      <a:pPr algn="l" indent="0" marL="0">
                        <a:buNone/>
                      </a:pPr>
                      <a:r>
                        <a:rPr lang="en-US" sz="1100" b="1" dirty="0">
                          <a:solidFill>
                            <a:srgbClr val="FFFFFF"/>
                          </a:solidFill>
                        </a:rPr>
                        <a:t>Study</a:t>
                      </a:r>
                      <a:endParaRPr lang="en-US" sz="1100" dirty="0"/>
                    </a:p>
                  </a:txBody>
                  <a:tcPr marL="76200" marR="76200" marT="50800" marB="50800" anchor="ctr">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1C3F66"/>
                    </a:solidFill>
                  </a:tcPr>
                </a:tc>
                <a:tc>
                  <a:txBody>
                    <a:bodyPr/>
                    <a:lstStyle/>
                    <a:p>
                      <a:pPr algn="l" indent="0" marL="0">
                        <a:buNone/>
                      </a:pPr>
                      <a:r>
                        <a:rPr lang="en-US" sz="1100" b="1" dirty="0">
                          <a:solidFill>
                            <a:srgbClr val="FFFFFF"/>
                          </a:solidFill>
                        </a:rPr>
                        <a:t>Method / Approach</a:t>
                      </a:r>
                      <a:endParaRPr lang="en-US" sz="1100" dirty="0"/>
                    </a:p>
                  </a:txBody>
                  <a:tcPr marL="76200" marR="76200" marT="50800" marB="50800" anchor="ctr">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1C3F66"/>
                    </a:solidFill>
                  </a:tcPr>
                </a:tc>
                <a:tc>
                  <a:txBody>
                    <a:bodyPr/>
                    <a:lstStyle/>
                    <a:p>
                      <a:pPr algn="l" indent="0" marL="0">
                        <a:buNone/>
                      </a:pPr>
                      <a:r>
                        <a:rPr lang="en-US" sz="1100" b="1" dirty="0">
                          <a:solidFill>
                            <a:srgbClr val="FFFFFF"/>
                          </a:solidFill>
                        </a:rPr>
                        <a:t>Key Finding</a:t>
                      </a:r>
                      <a:endParaRPr lang="en-US" sz="1100" dirty="0"/>
                    </a:p>
                  </a:txBody>
                  <a:tcPr marL="76200" marR="76200" marT="50800" marB="50800" anchor="ctr">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1C3F66"/>
                    </a:solidFill>
                  </a:tcPr>
                </a:tc>
              </a:tr>
              <a:tr h="0">
                <a:tc>
                  <a:txBody>
                    <a:bodyPr/>
                    <a:lstStyle/>
                    <a:p>
                      <a:pPr algn="l" indent="0" marL="0">
                        <a:buNone/>
                      </a:pPr>
                      <a:r>
                        <a:rPr lang="en-US" sz="1050" b="1" dirty="0">
                          <a:solidFill>
                            <a:srgbClr val="0B1F3A"/>
                          </a:solidFill>
                        </a:rPr>
                        <a:t>2023</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Medelbekov &amp; Nurtas — IEEE SIST</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Survey of ML methods</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Reviewed strengths/limitations of major ML approaches used for phishing detection</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0B1F3A"/>
                          </a:solidFill>
                        </a:rPr>
                        <a:t>2024</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Yau &amp; Chia — SCDM 2024</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Random Forest + blacklist (hybrid)</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97.03% accuracy with a two-tier list + ML detection system</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r>
              <a:tr h="0">
                <a:tc>
                  <a:txBody>
                    <a:bodyPr/>
                    <a:lstStyle/>
                    <a:p>
                      <a:pPr algn="l" indent="0" marL="0">
                        <a:buNone/>
                      </a:pPr>
                      <a:r>
                        <a:rPr lang="en-US" sz="1050" b="1" dirty="0">
                          <a:solidFill>
                            <a:srgbClr val="0B1F3A"/>
                          </a:solidFill>
                        </a:rPr>
                        <a:t>2024</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Calzarossa et al. — QREI</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Explainable tree-ensemble ML</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Identified the most phishing-indicative features using explainable ML</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0B1F3A"/>
                          </a:solidFill>
                        </a:rPr>
                        <a:t>2024</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Tamal et al. — Frontiers Comp. Sci.</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OFVA + 15 supervised classifiers</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High accuracy on a large 274,446-URL dataset via optimal feature vectorization</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r>
            </a:tbl>
          </a:graphicData>
        </a:graphic>
      </p:graphicFrame>
      <p:sp>
        <p:nvSpPr>
          <p:cNvPr id="4" name="Text 1"/>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A9BB0"/>
                </a:solidFill>
                <a:latin typeface="Calibri" pitchFamily="34" charset="0"/>
                <a:ea typeface="Calibri" pitchFamily="34" charset="-122"/>
                <a:cs typeface="Calibri" pitchFamily="34" charset="-120"/>
              </a:rPr>
              <a:t>Phishing Website Detection Using Machine Learning</a:t>
            </a:r>
            <a:endParaRPr lang="en-US" sz="900" dirty="0"/>
          </a:p>
        </p:txBody>
      </p:sp>
      <p:sp>
        <p:nvSpPr>
          <p:cNvPr id="5" name="Text 2"/>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502920"/>
            <a:ext cx="10515600" cy="548640"/>
          </a:xfrm>
          <a:prstGeom prst="rect">
            <a:avLst/>
          </a:prstGeom>
          <a:noFill/>
          <a:ln/>
        </p:spPr>
        <p:txBody>
          <a:bodyPr wrap="square" rtlCol="0"/>
          <a:lstStyle/>
          <a:p>
            <a:pPr algn="l" indent="0" marL="0">
              <a:buNone/>
            </a:pPr>
            <a:r>
              <a:rPr lang="en-US" sz="3000" b="1" dirty="0">
                <a:solidFill>
                  <a:srgbClr val="0B1F3A"/>
                </a:solidFill>
                <a:latin typeface="Cambria" pitchFamily="34" charset="0"/>
                <a:ea typeface="Cambria" pitchFamily="34" charset="-122"/>
                <a:cs typeface="Cambria" pitchFamily="34" charset="-120"/>
              </a:rPr>
              <a:t>LITERATURE SURVEY (2/4)</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0424160" cy="914400"/>
        </p:xfrm>
        <a:graphic>
          <a:graphicData uri="http://schemas.openxmlformats.org/drawingml/2006/table">
            <a:tbl>
              <a:tblPr/>
              <a:tblGrid>
                <a:gridCol w="731520"/>
                <a:gridCol w="2651760"/>
                <a:gridCol w="3108960"/>
                <a:gridCol w="3931920"/>
              </a:tblGrid>
              <a:tr h="0">
                <a:tc>
                  <a:txBody>
                    <a:bodyPr/>
                    <a:lstStyle/>
                    <a:p>
                      <a:pPr algn="l" indent="0" marL="0">
                        <a:buNone/>
                      </a:pPr>
                      <a:r>
                        <a:rPr lang="en-US" sz="1100" b="1" dirty="0">
                          <a:solidFill>
                            <a:srgbClr val="FFFFFF"/>
                          </a:solidFill>
                        </a:rPr>
                        <a:t>Year</a:t>
                      </a:r>
                      <a:endParaRPr lang="en-US" sz="1100" dirty="0"/>
                    </a:p>
                  </a:txBody>
                  <a:tcPr marL="76200" marR="76200" marT="50800" marB="50800" anchor="ctr">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1C3F66"/>
                    </a:solidFill>
                  </a:tcPr>
                </a:tc>
                <a:tc>
                  <a:txBody>
                    <a:bodyPr/>
                    <a:lstStyle/>
                    <a:p>
                      <a:pPr algn="l" indent="0" marL="0">
                        <a:buNone/>
                      </a:pPr>
                      <a:r>
                        <a:rPr lang="en-US" sz="1100" b="1" dirty="0">
                          <a:solidFill>
                            <a:srgbClr val="FFFFFF"/>
                          </a:solidFill>
                        </a:rPr>
                        <a:t>Study</a:t>
                      </a:r>
                      <a:endParaRPr lang="en-US" sz="1100" dirty="0"/>
                    </a:p>
                  </a:txBody>
                  <a:tcPr marL="76200" marR="76200" marT="50800" marB="50800" anchor="ctr">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1C3F66"/>
                    </a:solidFill>
                  </a:tcPr>
                </a:tc>
                <a:tc>
                  <a:txBody>
                    <a:bodyPr/>
                    <a:lstStyle/>
                    <a:p>
                      <a:pPr algn="l" indent="0" marL="0">
                        <a:buNone/>
                      </a:pPr>
                      <a:r>
                        <a:rPr lang="en-US" sz="1100" b="1" dirty="0">
                          <a:solidFill>
                            <a:srgbClr val="FFFFFF"/>
                          </a:solidFill>
                        </a:rPr>
                        <a:t>Method / Approach</a:t>
                      </a:r>
                      <a:endParaRPr lang="en-US" sz="1100" dirty="0"/>
                    </a:p>
                  </a:txBody>
                  <a:tcPr marL="76200" marR="76200" marT="50800" marB="50800" anchor="ctr">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1C3F66"/>
                    </a:solidFill>
                  </a:tcPr>
                </a:tc>
                <a:tc>
                  <a:txBody>
                    <a:bodyPr/>
                    <a:lstStyle/>
                    <a:p>
                      <a:pPr algn="l" indent="0" marL="0">
                        <a:buNone/>
                      </a:pPr>
                      <a:r>
                        <a:rPr lang="en-US" sz="1100" b="1" dirty="0">
                          <a:solidFill>
                            <a:srgbClr val="FFFFFF"/>
                          </a:solidFill>
                        </a:rPr>
                        <a:t>Key Finding</a:t>
                      </a:r>
                      <a:endParaRPr lang="en-US" sz="1100" dirty="0"/>
                    </a:p>
                  </a:txBody>
                  <a:tcPr marL="76200" marR="76200" marT="50800" marB="50800" anchor="ctr">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1C3F66"/>
                    </a:solidFill>
                  </a:tcPr>
                </a:tc>
              </a:tr>
              <a:tr h="0">
                <a:tc>
                  <a:txBody>
                    <a:bodyPr/>
                    <a:lstStyle/>
                    <a:p>
                      <a:pPr algn="l" indent="0" marL="0">
                        <a:buNone/>
                      </a:pPr>
                      <a:r>
                        <a:rPr lang="en-US" sz="1050" b="1" dirty="0">
                          <a:solidFill>
                            <a:srgbClr val="0B1F3A"/>
                          </a:solidFill>
                        </a:rPr>
                        <a:t>2024</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ICNAAM Conference Proceedings</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SVM, Random Forest, Decision Tree</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Compared false positive/negative rates; RF and SVM most reliable</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0B1F3A"/>
                          </a:solidFill>
                        </a:rPr>
                        <a:t>2024/25</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Fajar, Yazid &amp; Budi — Springer</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SHAP/LIME with CatBoost, XGBoost, EBM</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Added explainability (XAI) without sacrificing detection accuracy</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r>
              <a:tr h="0">
                <a:tc>
                  <a:txBody>
                    <a:bodyPr/>
                    <a:lstStyle/>
                    <a:p>
                      <a:pPr algn="l" indent="0" marL="0">
                        <a:buNone/>
                      </a:pPr>
                      <a:r>
                        <a:rPr lang="en-US" sz="1050" b="1" dirty="0">
                          <a:solidFill>
                            <a:srgbClr val="0B1F3A"/>
                          </a:solidFill>
                        </a:rPr>
                        <a:t>2024</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JAIT Journal Study</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RF, XGBoost, LR, DT, SVM</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Random Forest reached 98.80% (PhishTank) and 97.87% (UCI dataset)</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0B1F3A"/>
                          </a:solidFill>
                        </a:rPr>
                        <a:t>2024</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IRJMETS</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Fuzzy logic + ML hybrid</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Improved handling of ambiguous / borderline phishing URLs</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r>
            </a:tbl>
          </a:graphicData>
        </a:graphic>
      </p:graphicFrame>
      <p:sp>
        <p:nvSpPr>
          <p:cNvPr id="4" name="Text 1"/>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A9BB0"/>
                </a:solidFill>
                <a:latin typeface="Calibri" pitchFamily="34" charset="0"/>
                <a:ea typeface="Calibri" pitchFamily="34" charset="-122"/>
                <a:cs typeface="Calibri" pitchFamily="34" charset="-120"/>
              </a:rPr>
              <a:t>Phishing Website Detection Using Machine Learning</a:t>
            </a:r>
            <a:endParaRPr lang="en-US" sz="900" dirty="0"/>
          </a:p>
        </p:txBody>
      </p:sp>
      <p:sp>
        <p:nvSpPr>
          <p:cNvPr id="5" name="Text 2"/>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502920"/>
            <a:ext cx="10515600" cy="548640"/>
          </a:xfrm>
          <a:prstGeom prst="rect">
            <a:avLst/>
          </a:prstGeom>
          <a:noFill/>
          <a:ln/>
        </p:spPr>
        <p:txBody>
          <a:bodyPr wrap="square" rtlCol="0"/>
          <a:lstStyle/>
          <a:p>
            <a:pPr algn="l" indent="0" marL="0">
              <a:buNone/>
            </a:pPr>
            <a:r>
              <a:rPr lang="en-US" sz="3000" b="1" dirty="0">
                <a:solidFill>
                  <a:srgbClr val="0B1F3A"/>
                </a:solidFill>
                <a:latin typeface="Cambria" pitchFamily="34" charset="0"/>
                <a:ea typeface="Cambria" pitchFamily="34" charset="-122"/>
                <a:cs typeface="Cambria" pitchFamily="34" charset="-120"/>
              </a:rPr>
              <a:t>LITERATURE SURVEY (3/4)</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0424160" cy="914400"/>
        </p:xfrm>
        <a:graphic>
          <a:graphicData uri="http://schemas.openxmlformats.org/drawingml/2006/table">
            <a:tbl>
              <a:tblPr/>
              <a:tblGrid>
                <a:gridCol w="731520"/>
                <a:gridCol w="2651760"/>
                <a:gridCol w="3108960"/>
                <a:gridCol w="3931920"/>
              </a:tblGrid>
              <a:tr h="0">
                <a:tc>
                  <a:txBody>
                    <a:bodyPr/>
                    <a:lstStyle/>
                    <a:p>
                      <a:pPr algn="l" indent="0" marL="0">
                        <a:buNone/>
                      </a:pPr>
                      <a:r>
                        <a:rPr lang="en-US" sz="1100" b="1" dirty="0">
                          <a:solidFill>
                            <a:srgbClr val="FFFFFF"/>
                          </a:solidFill>
                        </a:rPr>
                        <a:t>Year</a:t>
                      </a:r>
                      <a:endParaRPr lang="en-US" sz="1100" dirty="0"/>
                    </a:p>
                  </a:txBody>
                  <a:tcPr marL="76200" marR="76200" marT="50800" marB="50800" anchor="ctr">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1C3F66"/>
                    </a:solidFill>
                  </a:tcPr>
                </a:tc>
                <a:tc>
                  <a:txBody>
                    <a:bodyPr/>
                    <a:lstStyle/>
                    <a:p>
                      <a:pPr algn="l" indent="0" marL="0">
                        <a:buNone/>
                      </a:pPr>
                      <a:r>
                        <a:rPr lang="en-US" sz="1100" b="1" dirty="0">
                          <a:solidFill>
                            <a:srgbClr val="FFFFFF"/>
                          </a:solidFill>
                        </a:rPr>
                        <a:t>Study</a:t>
                      </a:r>
                      <a:endParaRPr lang="en-US" sz="1100" dirty="0"/>
                    </a:p>
                  </a:txBody>
                  <a:tcPr marL="76200" marR="76200" marT="50800" marB="50800" anchor="ctr">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1C3F66"/>
                    </a:solidFill>
                  </a:tcPr>
                </a:tc>
                <a:tc>
                  <a:txBody>
                    <a:bodyPr/>
                    <a:lstStyle/>
                    <a:p>
                      <a:pPr algn="l" indent="0" marL="0">
                        <a:buNone/>
                      </a:pPr>
                      <a:r>
                        <a:rPr lang="en-US" sz="1100" b="1" dirty="0">
                          <a:solidFill>
                            <a:srgbClr val="FFFFFF"/>
                          </a:solidFill>
                        </a:rPr>
                        <a:t>Method / Approach</a:t>
                      </a:r>
                      <a:endParaRPr lang="en-US" sz="1100" dirty="0"/>
                    </a:p>
                  </a:txBody>
                  <a:tcPr marL="76200" marR="76200" marT="50800" marB="50800" anchor="ctr">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1C3F66"/>
                    </a:solidFill>
                  </a:tcPr>
                </a:tc>
                <a:tc>
                  <a:txBody>
                    <a:bodyPr/>
                    <a:lstStyle/>
                    <a:p>
                      <a:pPr algn="l" indent="0" marL="0">
                        <a:buNone/>
                      </a:pPr>
                      <a:r>
                        <a:rPr lang="en-US" sz="1100" b="1" dirty="0">
                          <a:solidFill>
                            <a:srgbClr val="FFFFFF"/>
                          </a:solidFill>
                        </a:rPr>
                        <a:t>Key Finding</a:t>
                      </a:r>
                      <a:endParaRPr lang="en-US" sz="1100" dirty="0"/>
                    </a:p>
                  </a:txBody>
                  <a:tcPr marL="76200" marR="76200" marT="50800" marB="50800" anchor="ctr">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1C3F66"/>
                    </a:solidFill>
                  </a:tcPr>
                </a:tc>
              </a:tr>
              <a:tr h="0">
                <a:tc>
                  <a:txBody>
                    <a:bodyPr/>
                    <a:lstStyle/>
                    <a:p>
                      <a:pPr algn="l" indent="0" marL="0">
                        <a:buNone/>
                      </a:pPr>
                      <a:r>
                        <a:rPr lang="en-US" sz="1050" b="1" dirty="0">
                          <a:solidFill>
                            <a:srgbClr val="0B1F3A"/>
                          </a:solidFill>
                        </a:rPr>
                        <a:t>2024</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arXiv — PhishGuard</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Stacked RF + GB + CatBoost + XGBoost</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99.05% accuracy, outperforming individual classifiers</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0B1F3A"/>
                          </a:solidFill>
                        </a:rPr>
                        <a:t>2025</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Inderscience IJSN</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Attention-based LSTM-CNN hybrid</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Improved accuracy by combining sequential and spatial URL features</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r>
              <a:tr h="0">
                <a:tc>
                  <a:txBody>
                    <a:bodyPr/>
                    <a:lstStyle/>
                    <a:p>
                      <a:pPr algn="l" indent="0" marL="0">
                        <a:buNone/>
                      </a:pPr>
                      <a:r>
                        <a:rPr lang="en-US" sz="1050" b="1" dirty="0">
                          <a:solidFill>
                            <a:srgbClr val="0B1F3A"/>
                          </a:solidFill>
                        </a:rPr>
                        <a:t>2025</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IIETA — ISI Journal</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Parallel CNN-BiGRU on raw URLs</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End-to-end detection without manual feature engineering</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0B1F3A"/>
                          </a:solidFill>
                        </a:rPr>
                        <a:t>2025</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Shaikh et al. — VFAST</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ZP-CNN-LSTM hybrid (static + signature + autoencoder)</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98% accuracy including zero-day phishing URL detection</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r>
            </a:tbl>
          </a:graphicData>
        </a:graphic>
      </p:graphicFrame>
      <p:sp>
        <p:nvSpPr>
          <p:cNvPr id="4" name="Text 1"/>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A9BB0"/>
                </a:solidFill>
                <a:latin typeface="Calibri" pitchFamily="34" charset="0"/>
                <a:ea typeface="Calibri" pitchFamily="34" charset="-122"/>
                <a:cs typeface="Calibri" pitchFamily="34" charset="-120"/>
              </a:rPr>
              <a:t>Phishing Website Detection Using Machine Learning</a:t>
            </a:r>
            <a:endParaRPr lang="en-US" sz="900" dirty="0"/>
          </a:p>
        </p:txBody>
      </p:sp>
      <p:sp>
        <p:nvSpPr>
          <p:cNvPr id="5" name="Text 2"/>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502920"/>
            <a:ext cx="10515600" cy="548640"/>
          </a:xfrm>
          <a:prstGeom prst="rect">
            <a:avLst/>
          </a:prstGeom>
          <a:noFill/>
          <a:ln/>
        </p:spPr>
        <p:txBody>
          <a:bodyPr wrap="square" rtlCol="0"/>
          <a:lstStyle/>
          <a:p>
            <a:pPr algn="l" indent="0" marL="0">
              <a:buNone/>
            </a:pPr>
            <a:r>
              <a:rPr lang="en-US" sz="3000" b="1" dirty="0">
                <a:solidFill>
                  <a:srgbClr val="0B1F3A"/>
                </a:solidFill>
                <a:latin typeface="Cambria" pitchFamily="34" charset="0"/>
                <a:ea typeface="Cambria" pitchFamily="34" charset="-122"/>
                <a:cs typeface="Cambria" pitchFamily="34" charset="-120"/>
              </a:rPr>
              <a:t>LITERATURE SURVEY (4/4)</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0424160" cy="914400"/>
        </p:xfrm>
        <a:graphic>
          <a:graphicData uri="http://schemas.openxmlformats.org/drawingml/2006/table">
            <a:tbl>
              <a:tblPr/>
              <a:tblGrid>
                <a:gridCol w="731520"/>
                <a:gridCol w="2651760"/>
                <a:gridCol w="3108960"/>
                <a:gridCol w="3931920"/>
              </a:tblGrid>
              <a:tr h="0">
                <a:tc>
                  <a:txBody>
                    <a:bodyPr/>
                    <a:lstStyle/>
                    <a:p>
                      <a:pPr algn="l" indent="0" marL="0">
                        <a:buNone/>
                      </a:pPr>
                      <a:r>
                        <a:rPr lang="en-US" sz="1100" b="1" dirty="0">
                          <a:solidFill>
                            <a:srgbClr val="FFFFFF"/>
                          </a:solidFill>
                        </a:rPr>
                        <a:t>Year</a:t>
                      </a:r>
                      <a:endParaRPr lang="en-US" sz="1100" dirty="0"/>
                    </a:p>
                  </a:txBody>
                  <a:tcPr marL="76200" marR="76200" marT="50800" marB="50800" anchor="ctr">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1C3F66"/>
                    </a:solidFill>
                  </a:tcPr>
                </a:tc>
                <a:tc>
                  <a:txBody>
                    <a:bodyPr/>
                    <a:lstStyle/>
                    <a:p>
                      <a:pPr algn="l" indent="0" marL="0">
                        <a:buNone/>
                      </a:pPr>
                      <a:r>
                        <a:rPr lang="en-US" sz="1100" b="1" dirty="0">
                          <a:solidFill>
                            <a:srgbClr val="FFFFFF"/>
                          </a:solidFill>
                        </a:rPr>
                        <a:t>Study</a:t>
                      </a:r>
                      <a:endParaRPr lang="en-US" sz="1100" dirty="0"/>
                    </a:p>
                  </a:txBody>
                  <a:tcPr marL="76200" marR="76200" marT="50800" marB="50800" anchor="ctr">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1C3F66"/>
                    </a:solidFill>
                  </a:tcPr>
                </a:tc>
                <a:tc>
                  <a:txBody>
                    <a:bodyPr/>
                    <a:lstStyle/>
                    <a:p>
                      <a:pPr algn="l" indent="0" marL="0">
                        <a:buNone/>
                      </a:pPr>
                      <a:r>
                        <a:rPr lang="en-US" sz="1100" b="1" dirty="0">
                          <a:solidFill>
                            <a:srgbClr val="FFFFFF"/>
                          </a:solidFill>
                        </a:rPr>
                        <a:t>Method / Approach</a:t>
                      </a:r>
                      <a:endParaRPr lang="en-US" sz="1100" dirty="0"/>
                    </a:p>
                  </a:txBody>
                  <a:tcPr marL="76200" marR="76200" marT="50800" marB="50800" anchor="ctr">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1C3F66"/>
                    </a:solidFill>
                  </a:tcPr>
                </a:tc>
                <a:tc>
                  <a:txBody>
                    <a:bodyPr/>
                    <a:lstStyle/>
                    <a:p>
                      <a:pPr algn="l" indent="0" marL="0">
                        <a:buNone/>
                      </a:pPr>
                      <a:r>
                        <a:rPr lang="en-US" sz="1100" b="1" dirty="0">
                          <a:solidFill>
                            <a:srgbClr val="FFFFFF"/>
                          </a:solidFill>
                        </a:rPr>
                        <a:t>Key Finding</a:t>
                      </a:r>
                      <a:endParaRPr lang="en-US" sz="1100" dirty="0"/>
                    </a:p>
                  </a:txBody>
                  <a:tcPr marL="76200" marR="76200" marT="50800" marB="50800" anchor="ctr">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1C3F66"/>
                    </a:solidFill>
                  </a:tcPr>
                </a:tc>
              </a:tr>
              <a:tr h="0">
                <a:tc>
                  <a:txBody>
                    <a:bodyPr/>
                    <a:lstStyle/>
                    <a:p>
                      <a:pPr algn="l" indent="0" marL="0">
                        <a:buNone/>
                      </a:pPr>
                      <a:r>
                        <a:rPr lang="en-US" sz="1050" b="1" dirty="0">
                          <a:solidFill>
                            <a:srgbClr val="0B1F3A"/>
                          </a:solidFill>
                        </a:rPr>
                        <a:t>2025</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Baskota — arXiv</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Bi-LSTM, 4-class URL classifier</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97% accuracy across 650,000+ URLs (benign/phishing/defacement/malware)</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0B1F3A"/>
                          </a:solidFill>
                        </a:rPr>
                        <a:t>2025</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STMIK Banjarbaru — Progresif</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CNN-BiLSTM, character-level</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High accuracy without hand-crafted feature extraction</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r>
              <a:tr h="0">
                <a:tc>
                  <a:txBody>
                    <a:bodyPr/>
                    <a:lstStyle/>
                    <a:p>
                      <a:pPr algn="l" indent="0" marL="0">
                        <a:buNone/>
                      </a:pPr>
                      <a:r>
                        <a:rPr lang="en-US" sz="1050" b="1" dirty="0">
                          <a:solidFill>
                            <a:srgbClr val="0B1F3A"/>
                          </a:solidFill>
                        </a:rPr>
                        <a:t>2025</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ICCSCE Proceedings</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RF + XGBoost + SVM ensemble</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B1F3A"/>
                          </a:solidFill>
                        </a:rPr>
                        <a:t>Reduced false positives with adaptive, feedback-driven retraining</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FFFFFF"/>
                    </a:solidFill>
                  </a:tcPr>
                </a:tc>
              </a:tr>
              <a:tr h="0">
                <a:tc>
                  <a:txBody>
                    <a:bodyPr/>
                    <a:lstStyle/>
                    <a:p>
                      <a:pPr algn="l" indent="0" marL="0">
                        <a:buNone/>
                      </a:pPr>
                      <a:r>
                        <a:rPr lang="en-US" sz="1050" b="1" dirty="0">
                          <a:solidFill>
                            <a:srgbClr val="0B1F3A"/>
                          </a:solidFill>
                        </a:rPr>
                        <a:t>2026</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TEM Journal</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DL-Phish: LSTM, MLP, CNN, GRU compared</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c>
                  <a:txBody>
                    <a:bodyPr/>
                    <a:lstStyle/>
                    <a:p>
                      <a:pPr algn="l" indent="0" marL="0">
                        <a:buNone/>
                      </a:pPr>
                      <a:r>
                        <a:rPr lang="en-US" sz="1050" dirty="0">
                          <a:solidFill>
                            <a:srgbClr val="0B1F3A"/>
                          </a:solidFill>
                        </a:rPr>
                        <a:t>LSTM achieved the best result at 97.39% accuracy</a:t>
                      </a:r>
                      <a:endParaRPr lang="en-US" sz="1050" dirty="0"/>
                    </a:p>
                  </a:txBody>
                  <a:tcPr marL="76200" marR="76200" marT="50800" marB="50800" anchor="t">
                    <a:lnL w="9525" cap="flat" cmpd="sng" algn="ctr">
                      <a:solidFill>
                        <a:srgbClr val="D7E3EE"/>
                      </a:solidFill>
                      <a:prstDash val="solid"/>
                      <a:round/>
                      <a:headEnd type="none" w="med" len="med"/>
                      <a:tailEnd type="none" w="med" len="med"/>
                    </a:lnL>
                    <a:lnR w="9525" cap="flat" cmpd="sng" algn="ctr">
                      <a:solidFill>
                        <a:srgbClr val="D7E3EE"/>
                      </a:solidFill>
                      <a:prstDash val="solid"/>
                      <a:round/>
                      <a:headEnd type="none" w="med" len="med"/>
                      <a:tailEnd type="none" w="med" len="med"/>
                    </a:lnR>
                    <a:lnT w="9525" cap="flat" cmpd="sng" algn="ctr">
                      <a:solidFill>
                        <a:srgbClr val="D7E3EE"/>
                      </a:solidFill>
                      <a:prstDash val="solid"/>
                      <a:round/>
                      <a:headEnd type="none" w="med" len="med"/>
                      <a:tailEnd type="none" w="med" len="med"/>
                    </a:lnT>
                    <a:lnB w="9525" cap="flat" cmpd="sng" algn="ctr">
                      <a:solidFill>
                        <a:srgbClr val="D7E3EE"/>
                      </a:solidFill>
                      <a:prstDash val="solid"/>
                      <a:round/>
                      <a:headEnd type="none" w="med" len="med"/>
                      <a:tailEnd type="none" w="med" len="med"/>
                    </a:lnB>
                    <a:solidFill>
                      <a:srgbClr val="EAF2FA"/>
                    </a:solidFill>
                  </a:tcPr>
                </a:tc>
              </a:tr>
            </a:tbl>
          </a:graphicData>
        </a:graphic>
      </p:graphicFrame>
      <p:sp>
        <p:nvSpPr>
          <p:cNvPr id="4" name="Text 1"/>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A9BB0"/>
                </a:solidFill>
                <a:latin typeface="Calibri" pitchFamily="34" charset="0"/>
                <a:ea typeface="Calibri" pitchFamily="34" charset="-122"/>
                <a:cs typeface="Calibri" pitchFamily="34" charset="-120"/>
              </a:rPr>
              <a:t>Phishing Website Detection Using Machine Learning</a:t>
            </a:r>
            <a:endParaRPr lang="en-US" sz="900" dirty="0"/>
          </a:p>
        </p:txBody>
      </p:sp>
      <p:sp>
        <p:nvSpPr>
          <p:cNvPr id="5" name="Text 2"/>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502920"/>
            <a:ext cx="10515600" cy="548640"/>
          </a:xfrm>
          <a:prstGeom prst="rect">
            <a:avLst/>
          </a:prstGeom>
          <a:noFill/>
          <a:ln/>
        </p:spPr>
        <p:txBody>
          <a:bodyPr wrap="square" rtlCol="0"/>
          <a:lstStyle/>
          <a:p>
            <a:pPr algn="l" indent="0" marL="0">
              <a:buNone/>
            </a:pPr>
            <a:r>
              <a:rPr lang="en-US" sz="3000" b="1" dirty="0">
                <a:solidFill>
                  <a:srgbClr val="0B1F3A"/>
                </a:solidFill>
                <a:latin typeface="Cambria" pitchFamily="34" charset="0"/>
                <a:ea typeface="Cambria" pitchFamily="34" charset="-122"/>
                <a:cs typeface="Cambria" pitchFamily="34" charset="-120"/>
              </a:rPr>
              <a:t>RESEARCH GAP</a:t>
            </a:r>
            <a:endParaRPr lang="en-US" sz="3000" dirty="0"/>
          </a:p>
        </p:txBody>
      </p:sp>
      <p:sp>
        <p:nvSpPr>
          <p:cNvPr id="3" name="Shape 1"/>
          <p:cNvSpPr/>
          <p:nvPr/>
        </p:nvSpPr>
        <p:spPr>
          <a:xfrm>
            <a:off x="548640" y="1417320"/>
            <a:ext cx="5166360" cy="2148840"/>
          </a:xfrm>
          <a:prstGeom prst="roundRect">
            <a:avLst>
              <a:gd name="adj" fmla="val 3404"/>
            </a:avLst>
          </a:prstGeom>
          <a:solidFill>
            <a:srgbClr val="EAF2FA"/>
          </a:solidFill>
          <a:ln/>
        </p:spPr>
      </p:sp>
      <p:sp>
        <p:nvSpPr>
          <p:cNvPr id="4" name="Shape 2"/>
          <p:cNvSpPr/>
          <p:nvPr/>
        </p:nvSpPr>
        <p:spPr>
          <a:xfrm>
            <a:off x="777240" y="1645920"/>
            <a:ext cx="411480" cy="411480"/>
          </a:xfrm>
          <a:prstGeom prst="ellipse">
            <a:avLst/>
          </a:prstGeom>
          <a:solidFill>
            <a:srgbClr val="FF5A5F"/>
          </a:solidFill>
          <a:ln/>
        </p:spPr>
      </p:sp>
      <p:sp>
        <p:nvSpPr>
          <p:cNvPr id="5" name="Text 3"/>
          <p:cNvSpPr txBox="1"/>
          <p:nvPr/>
        </p:nvSpPr>
        <p:spPr>
          <a:xfrm>
            <a:off x="777240" y="16459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371600" y="1618488"/>
            <a:ext cx="4160520" cy="45720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Fragmented Comparisons</a:t>
            </a:r>
            <a:endParaRPr lang="en-US" sz="1400" dirty="0"/>
          </a:p>
        </p:txBody>
      </p:sp>
      <p:sp>
        <p:nvSpPr>
          <p:cNvPr id="7" name="Text 5"/>
          <p:cNvSpPr txBox="1"/>
          <p:nvPr/>
        </p:nvSpPr>
        <p:spPr>
          <a:xfrm>
            <a:off x="777240" y="2194560"/>
            <a:ext cx="4709160" cy="1234440"/>
          </a:xfrm>
          <a:prstGeom prst="rect">
            <a:avLst/>
          </a:prstGeom>
          <a:noFill/>
          <a:ln/>
        </p:spPr>
        <p:txBody>
          <a:bodyPr wrap="square" lIns="0" tIns="0" rIns="0" bIns="0" rtlCol="0" anchor="t"/>
          <a:lstStyle/>
          <a:p>
            <a:pPr indent="0" marL="0">
              <a:buNone/>
            </a:pPr>
            <a:r>
              <a:rPr lang="en-US" sz="1100" dirty="0">
                <a:solidFill>
                  <a:srgbClr val="14314F"/>
                </a:solidFill>
                <a:latin typeface="Calibri" pitchFamily="34" charset="0"/>
                <a:ea typeface="Calibri" pitchFamily="34" charset="-122"/>
                <a:cs typeface="Calibri" pitchFamily="34" charset="-120"/>
              </a:rPr>
              <a:t>Most studies evaluate algorithms in isolation; few benchmark classical ML, ensembles, and deep learning together on the same dataset.</a:t>
            </a:r>
            <a:endParaRPr lang="en-US" sz="1100" dirty="0"/>
          </a:p>
        </p:txBody>
      </p:sp>
      <p:sp>
        <p:nvSpPr>
          <p:cNvPr id="8" name="Shape 6"/>
          <p:cNvSpPr/>
          <p:nvPr/>
        </p:nvSpPr>
        <p:spPr>
          <a:xfrm>
            <a:off x="5989320" y="1417320"/>
            <a:ext cx="5166360" cy="2148840"/>
          </a:xfrm>
          <a:prstGeom prst="roundRect">
            <a:avLst>
              <a:gd name="adj" fmla="val 3404"/>
            </a:avLst>
          </a:prstGeom>
          <a:solidFill>
            <a:srgbClr val="EAF2FA"/>
          </a:solidFill>
          <a:ln/>
        </p:spPr>
      </p:sp>
      <p:sp>
        <p:nvSpPr>
          <p:cNvPr id="9" name="Shape 7"/>
          <p:cNvSpPr/>
          <p:nvPr/>
        </p:nvSpPr>
        <p:spPr>
          <a:xfrm>
            <a:off x="6217920" y="1645920"/>
            <a:ext cx="411480" cy="411480"/>
          </a:xfrm>
          <a:prstGeom prst="ellipse">
            <a:avLst/>
          </a:prstGeom>
          <a:solidFill>
            <a:srgbClr val="FF5A5F"/>
          </a:solidFill>
          <a:ln/>
        </p:spPr>
      </p:sp>
      <p:sp>
        <p:nvSpPr>
          <p:cNvPr id="10" name="Text 8"/>
          <p:cNvSpPr txBox="1"/>
          <p:nvPr/>
        </p:nvSpPr>
        <p:spPr>
          <a:xfrm>
            <a:off x="6217920" y="16459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1" name="Text 9"/>
          <p:cNvSpPr txBox="1"/>
          <p:nvPr/>
        </p:nvSpPr>
        <p:spPr>
          <a:xfrm>
            <a:off x="6812280" y="1618488"/>
            <a:ext cx="4160520" cy="45720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Limited Zero-Day Coverage</a:t>
            </a:r>
            <a:endParaRPr lang="en-US" sz="1400" dirty="0"/>
          </a:p>
        </p:txBody>
      </p:sp>
      <p:sp>
        <p:nvSpPr>
          <p:cNvPr id="12" name="Text 10"/>
          <p:cNvSpPr txBox="1"/>
          <p:nvPr/>
        </p:nvSpPr>
        <p:spPr>
          <a:xfrm>
            <a:off x="6217920" y="2194560"/>
            <a:ext cx="4709160" cy="1234440"/>
          </a:xfrm>
          <a:prstGeom prst="rect">
            <a:avLst/>
          </a:prstGeom>
          <a:noFill/>
          <a:ln/>
        </p:spPr>
        <p:txBody>
          <a:bodyPr wrap="square" lIns="0" tIns="0" rIns="0" bIns="0" rtlCol="0" anchor="t"/>
          <a:lstStyle/>
          <a:p>
            <a:pPr indent="0" marL="0">
              <a:buNone/>
            </a:pPr>
            <a:r>
              <a:rPr lang="en-US" sz="1100" dirty="0">
                <a:solidFill>
                  <a:srgbClr val="14314F"/>
                </a:solidFill>
                <a:latin typeface="Calibri" pitchFamily="34" charset="0"/>
                <a:ea typeface="Calibri" pitchFamily="34" charset="-122"/>
                <a:cs typeface="Calibri" pitchFamily="34" charset="-120"/>
              </a:rPr>
              <a:t>Many classical ML models rely on historical features and struggle to generalize to newly registered, previously unseen phishing domains.</a:t>
            </a:r>
            <a:endParaRPr lang="en-US" sz="1100" dirty="0"/>
          </a:p>
        </p:txBody>
      </p:sp>
      <p:sp>
        <p:nvSpPr>
          <p:cNvPr id="13" name="Shape 11"/>
          <p:cNvSpPr/>
          <p:nvPr/>
        </p:nvSpPr>
        <p:spPr>
          <a:xfrm>
            <a:off x="548640" y="3840480"/>
            <a:ext cx="5166360" cy="2148840"/>
          </a:xfrm>
          <a:prstGeom prst="roundRect">
            <a:avLst>
              <a:gd name="adj" fmla="val 3404"/>
            </a:avLst>
          </a:prstGeom>
          <a:solidFill>
            <a:srgbClr val="EAF2FA"/>
          </a:solidFill>
          <a:ln/>
        </p:spPr>
      </p:sp>
      <p:sp>
        <p:nvSpPr>
          <p:cNvPr id="14" name="Shape 12"/>
          <p:cNvSpPr/>
          <p:nvPr/>
        </p:nvSpPr>
        <p:spPr>
          <a:xfrm>
            <a:off x="777240" y="4069080"/>
            <a:ext cx="411480" cy="411480"/>
          </a:xfrm>
          <a:prstGeom prst="ellipse">
            <a:avLst/>
          </a:prstGeom>
          <a:solidFill>
            <a:srgbClr val="FF5A5F"/>
          </a:solidFill>
          <a:ln/>
        </p:spPr>
      </p:sp>
      <p:sp>
        <p:nvSpPr>
          <p:cNvPr id="15" name="Text 13"/>
          <p:cNvSpPr txBox="1"/>
          <p:nvPr/>
        </p:nvSpPr>
        <p:spPr>
          <a:xfrm>
            <a:off x="777240" y="40690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4"/>
          <p:cNvSpPr txBox="1"/>
          <p:nvPr/>
        </p:nvSpPr>
        <p:spPr>
          <a:xfrm>
            <a:off x="1371600" y="4041648"/>
            <a:ext cx="4160520" cy="45720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Explainability Gap</a:t>
            </a:r>
            <a:endParaRPr lang="en-US" sz="1400" dirty="0"/>
          </a:p>
        </p:txBody>
      </p:sp>
      <p:sp>
        <p:nvSpPr>
          <p:cNvPr id="17" name="Text 15"/>
          <p:cNvSpPr txBox="1"/>
          <p:nvPr/>
        </p:nvSpPr>
        <p:spPr>
          <a:xfrm>
            <a:off x="777240" y="4617720"/>
            <a:ext cx="4709160" cy="1234440"/>
          </a:xfrm>
          <a:prstGeom prst="rect">
            <a:avLst/>
          </a:prstGeom>
          <a:noFill/>
          <a:ln/>
        </p:spPr>
        <p:txBody>
          <a:bodyPr wrap="square" lIns="0" tIns="0" rIns="0" bIns="0" rtlCol="0" anchor="t"/>
          <a:lstStyle/>
          <a:p>
            <a:pPr indent="0" marL="0">
              <a:buNone/>
            </a:pPr>
            <a:r>
              <a:rPr lang="en-US" sz="1100" dirty="0">
                <a:solidFill>
                  <a:srgbClr val="14314F"/>
                </a:solidFill>
                <a:latin typeface="Calibri" pitchFamily="34" charset="0"/>
                <a:ea typeface="Calibri" pitchFamily="34" charset="-122"/>
                <a:cs typeface="Calibri" pitchFamily="34" charset="-120"/>
              </a:rPr>
              <a:t>High-accuracy ensemble and deep learning models are often opaque; few deployable systems pair accuracy with interpretability.</a:t>
            </a:r>
            <a:endParaRPr lang="en-US" sz="1100" dirty="0"/>
          </a:p>
        </p:txBody>
      </p:sp>
      <p:sp>
        <p:nvSpPr>
          <p:cNvPr id="18" name="Shape 16"/>
          <p:cNvSpPr/>
          <p:nvPr/>
        </p:nvSpPr>
        <p:spPr>
          <a:xfrm>
            <a:off x="5989320" y="3840480"/>
            <a:ext cx="5166360" cy="2148840"/>
          </a:xfrm>
          <a:prstGeom prst="roundRect">
            <a:avLst>
              <a:gd name="adj" fmla="val 3404"/>
            </a:avLst>
          </a:prstGeom>
          <a:solidFill>
            <a:srgbClr val="EAF2FA"/>
          </a:solidFill>
          <a:ln/>
        </p:spPr>
      </p:sp>
      <p:sp>
        <p:nvSpPr>
          <p:cNvPr id="19" name="Shape 17"/>
          <p:cNvSpPr/>
          <p:nvPr/>
        </p:nvSpPr>
        <p:spPr>
          <a:xfrm>
            <a:off x="6217920" y="4069080"/>
            <a:ext cx="411480" cy="411480"/>
          </a:xfrm>
          <a:prstGeom prst="ellipse">
            <a:avLst/>
          </a:prstGeom>
          <a:solidFill>
            <a:srgbClr val="FF5A5F"/>
          </a:solidFill>
          <a:ln/>
        </p:spPr>
      </p:sp>
      <p:sp>
        <p:nvSpPr>
          <p:cNvPr id="20" name="Text 18"/>
          <p:cNvSpPr txBox="1"/>
          <p:nvPr/>
        </p:nvSpPr>
        <p:spPr>
          <a:xfrm>
            <a:off x="6217920" y="40690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6812280" y="4041648"/>
            <a:ext cx="4160520" cy="45720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Deployment Focus Missing</a:t>
            </a:r>
            <a:endParaRPr lang="en-US" sz="1400" dirty="0"/>
          </a:p>
        </p:txBody>
      </p:sp>
      <p:sp>
        <p:nvSpPr>
          <p:cNvPr id="22" name="Text 20"/>
          <p:cNvSpPr txBox="1"/>
          <p:nvPr/>
        </p:nvSpPr>
        <p:spPr>
          <a:xfrm>
            <a:off x="6217920" y="4617720"/>
            <a:ext cx="4709160" cy="1234440"/>
          </a:xfrm>
          <a:prstGeom prst="rect">
            <a:avLst/>
          </a:prstGeom>
          <a:noFill/>
          <a:ln/>
        </p:spPr>
        <p:txBody>
          <a:bodyPr wrap="square" lIns="0" tIns="0" rIns="0" bIns="0" rtlCol="0" anchor="t"/>
          <a:lstStyle/>
          <a:p>
            <a:pPr indent="0" marL="0">
              <a:buNone/>
            </a:pPr>
            <a:r>
              <a:rPr lang="en-US" sz="1100" dirty="0">
                <a:solidFill>
                  <a:srgbClr val="14314F"/>
                </a:solidFill>
                <a:latin typeface="Calibri" pitchFamily="34" charset="0"/>
                <a:ea typeface="Calibri" pitchFamily="34" charset="-122"/>
                <a:cs typeface="Calibri" pitchFamily="34" charset="-120"/>
              </a:rPr>
              <a:t>Most work stops at offline evaluation; real-time, lightweight integration (browser/email) is comparatively under-explored.</a:t>
            </a:r>
            <a:endParaRPr lang="en-US" sz="1100" dirty="0"/>
          </a:p>
        </p:txBody>
      </p:sp>
      <p:sp>
        <p:nvSpPr>
          <p:cNvPr id="23" name="Text 21"/>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A9BB0"/>
                </a:solidFill>
                <a:latin typeface="Calibri" pitchFamily="34" charset="0"/>
                <a:ea typeface="Calibri" pitchFamily="34" charset="-122"/>
                <a:cs typeface="Calibri" pitchFamily="34" charset="-120"/>
              </a:rPr>
              <a:t>Phishing Website Detection Using Machine Learning</a:t>
            </a:r>
            <a:endParaRPr lang="en-US" sz="900" dirty="0"/>
          </a:p>
        </p:txBody>
      </p:sp>
      <p:sp>
        <p:nvSpPr>
          <p:cNvPr id="24" name="Text 22"/>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822960" y="1371600"/>
            <a:ext cx="3657600" cy="914400"/>
          </a:xfrm>
          <a:prstGeom prst="rect">
            <a:avLst/>
          </a:prstGeom>
          <a:noFill/>
          <a:ln/>
        </p:spPr>
        <p:txBody>
          <a:bodyPr wrap="square" lIns="0" tIns="0" rIns="0" bIns="0" rtlCol="0" anchor="ctr"/>
          <a:lstStyle/>
          <a:p>
            <a:pPr indent="0" marL="0">
              <a:buNone/>
            </a:pPr>
            <a:r>
              <a:rPr lang="en-US" sz="6000" b="1" dirty="0">
                <a:solidFill>
                  <a:srgbClr val="14314F"/>
                </a:solidFill>
                <a:latin typeface="Cambria" pitchFamily="34" charset="0"/>
                <a:ea typeface="Cambria" pitchFamily="34" charset="-122"/>
                <a:cs typeface="Cambria" pitchFamily="34" charset="-120"/>
              </a:rPr>
              <a:t>03</a:t>
            </a:r>
            <a:endParaRPr lang="en-US" sz="6000" dirty="0"/>
          </a:p>
        </p:txBody>
      </p:sp>
      <p:sp>
        <p:nvSpPr>
          <p:cNvPr id="3" name="Text 1"/>
          <p:cNvSpPr/>
          <p:nvPr>
            <p:ph idx="102" type="body" hasCustomPrompt="1"/>
          </p:nvPr>
        </p:nvSpPr>
        <p:spPr>
          <a:xfrm>
            <a:off x="868680" y="2423160"/>
            <a:ext cx="7315200" cy="457200"/>
          </a:xfrm>
          <a:prstGeom prst="rect">
            <a:avLst/>
          </a:prstGeom>
          <a:noFill/>
          <a:ln/>
        </p:spPr>
        <p:txBody>
          <a:bodyPr wrap="square" rtlCol="0"/>
          <a:lstStyle/>
          <a:p>
            <a:pPr algn="l" indent="0" marL="0">
              <a:buNone/>
            </a:pPr>
            <a:r>
              <a:rPr lang="en-US" sz="1400" spc="300" kern="0" dirty="0">
                <a:solidFill>
                  <a:srgbClr val="00B4D8"/>
                </a:solidFill>
                <a:latin typeface="Calibri" pitchFamily="34" charset="0"/>
                <a:ea typeface="Calibri" pitchFamily="34" charset="-122"/>
                <a:cs typeface="Calibri" pitchFamily="34" charset="-120"/>
              </a:rPr>
              <a:t>METHODOLOGY</a:t>
            </a:r>
            <a:endParaRPr lang="en-US" sz="1400" dirty="0"/>
          </a:p>
        </p:txBody>
      </p:sp>
      <p:sp>
        <p:nvSpPr>
          <p:cNvPr id="4" name="Text 1"/>
          <p:cNvSpPr/>
          <p:nvPr>
            <p:ph idx="101" type="title" hasCustomPrompt="1"/>
          </p:nvPr>
        </p:nvSpPr>
        <p:spPr>
          <a:xfrm>
            <a:off x="822960" y="2880360"/>
            <a:ext cx="10515600" cy="1188720"/>
          </a:xfrm>
          <a:prstGeom prst="rect">
            <a:avLst/>
          </a:prstGeom>
          <a:noFill/>
          <a:ln/>
        </p:spPr>
        <p:txBody>
          <a:bodyPr wrap="square" rtlCol="0"/>
          <a:lstStyle/>
          <a:p>
            <a:pPr algn="l" indent="0" marL="0">
              <a:buNone/>
            </a:pPr>
            <a:r>
              <a:rPr lang="en-US" sz="3800" b="1" dirty="0">
                <a:solidFill>
                  <a:srgbClr val="FFFFFF"/>
                </a:solidFill>
                <a:latin typeface="Cambria" pitchFamily="34" charset="0"/>
                <a:ea typeface="Cambria" pitchFamily="34" charset="-122"/>
                <a:cs typeface="Cambria" pitchFamily="34" charset="-120"/>
              </a:rPr>
              <a:t>Research Methodology</a:t>
            </a:r>
            <a:endParaRPr lang="en-US" sz="3800" dirty="0"/>
          </a:p>
        </p:txBody>
      </p:sp>
      <p:sp>
        <p:nvSpPr>
          <p:cNvPr id="5" name="Text 3"/>
          <p:cNvSpPr txBox="1"/>
          <p:nvPr/>
        </p:nvSpPr>
        <p:spPr>
          <a:xfrm>
            <a:off x="868680" y="4114800"/>
            <a:ext cx="8686800" cy="73152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Dataset preparation, feature engineering, and the core machine learning algorithms used to build and evaluate the detection model.</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502920"/>
            <a:ext cx="10515600" cy="548640"/>
          </a:xfrm>
          <a:prstGeom prst="rect">
            <a:avLst/>
          </a:prstGeom>
          <a:noFill/>
          <a:ln/>
        </p:spPr>
        <p:txBody>
          <a:bodyPr wrap="square" rtlCol="0"/>
          <a:lstStyle/>
          <a:p>
            <a:pPr algn="l" indent="0" marL="0">
              <a:buNone/>
            </a:pPr>
            <a:r>
              <a:rPr lang="en-US" sz="3000" b="1" dirty="0">
                <a:solidFill>
                  <a:srgbClr val="0B1F3A"/>
                </a:solidFill>
                <a:latin typeface="Cambria" pitchFamily="34" charset="0"/>
                <a:ea typeface="Cambria" pitchFamily="34" charset="-122"/>
                <a:cs typeface="Cambria" pitchFamily="34" charset="-120"/>
              </a:rPr>
              <a:t>DATASET &amp; FEATURE ENGINEERING</a:t>
            </a:r>
            <a:endParaRPr lang="en-US" sz="3000" dirty="0"/>
          </a:p>
        </p:txBody>
      </p:sp>
      <p:sp>
        <p:nvSpPr>
          <p:cNvPr id="3" name="Shape 1"/>
          <p:cNvSpPr/>
          <p:nvPr/>
        </p:nvSpPr>
        <p:spPr>
          <a:xfrm>
            <a:off x="548640" y="1417320"/>
            <a:ext cx="5120640" cy="4709160"/>
          </a:xfrm>
          <a:prstGeom prst="roundRect">
            <a:avLst>
              <a:gd name="adj" fmla="val 1553"/>
            </a:avLst>
          </a:prstGeom>
          <a:solidFill>
            <a:srgbClr val="0B1F3A"/>
          </a:solidFill>
          <a:ln/>
        </p:spPr>
      </p:sp>
      <p:sp>
        <p:nvSpPr>
          <p:cNvPr id="4" name="Text 2"/>
          <p:cNvSpPr txBox="1"/>
          <p:nvPr/>
        </p:nvSpPr>
        <p:spPr>
          <a:xfrm>
            <a:off x="868680" y="1627632"/>
            <a:ext cx="457200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Dataset</a:t>
            </a:r>
            <a:endParaRPr lang="en-US" sz="1600" dirty="0"/>
          </a:p>
        </p:txBody>
      </p:sp>
      <p:sp>
        <p:nvSpPr>
          <p:cNvPr id="5" name="Shape 3"/>
          <p:cNvSpPr/>
          <p:nvPr/>
        </p:nvSpPr>
        <p:spPr>
          <a:xfrm>
            <a:off x="868680" y="2203704"/>
            <a:ext cx="91440" cy="91440"/>
          </a:xfrm>
          <a:prstGeom prst="ellipse">
            <a:avLst/>
          </a:prstGeom>
          <a:solidFill>
            <a:srgbClr val="00B4D8"/>
          </a:solidFill>
          <a:ln/>
        </p:spPr>
      </p:sp>
      <p:sp>
        <p:nvSpPr>
          <p:cNvPr id="6" name="Text 4"/>
          <p:cNvSpPr txBox="1"/>
          <p:nvPr/>
        </p:nvSpPr>
        <p:spPr>
          <a:xfrm>
            <a:off x="1097280" y="2075688"/>
            <a:ext cx="4434840" cy="7772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Public phishing/legitimate URL datasets: UCI Phishing Websites Repository, PhishTank, and Kaggle web-page phishing datasets</a:t>
            </a:r>
            <a:endParaRPr lang="en-US" sz="1100" dirty="0"/>
          </a:p>
        </p:txBody>
      </p:sp>
      <p:sp>
        <p:nvSpPr>
          <p:cNvPr id="7" name="Shape 5"/>
          <p:cNvSpPr/>
          <p:nvPr/>
        </p:nvSpPr>
        <p:spPr>
          <a:xfrm>
            <a:off x="868680" y="3072384"/>
            <a:ext cx="91440" cy="91440"/>
          </a:xfrm>
          <a:prstGeom prst="ellipse">
            <a:avLst/>
          </a:prstGeom>
          <a:solidFill>
            <a:srgbClr val="00B4D8"/>
          </a:solidFill>
          <a:ln/>
        </p:spPr>
      </p:sp>
      <p:sp>
        <p:nvSpPr>
          <p:cNvPr id="8" name="Text 6"/>
          <p:cNvSpPr txBox="1"/>
          <p:nvPr/>
        </p:nvSpPr>
        <p:spPr>
          <a:xfrm>
            <a:off x="1097280" y="2944368"/>
            <a:ext cx="4434840" cy="7772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Combines legitimate URLs (Alexa/Tranco top sites) with verified phishing URLs for a balanced, labeled dataset</a:t>
            </a:r>
            <a:endParaRPr lang="en-US" sz="1100" dirty="0"/>
          </a:p>
        </p:txBody>
      </p:sp>
      <p:sp>
        <p:nvSpPr>
          <p:cNvPr id="9" name="Shape 7"/>
          <p:cNvSpPr/>
          <p:nvPr/>
        </p:nvSpPr>
        <p:spPr>
          <a:xfrm>
            <a:off x="868680" y="3941064"/>
            <a:ext cx="91440" cy="91440"/>
          </a:xfrm>
          <a:prstGeom prst="ellipse">
            <a:avLst/>
          </a:prstGeom>
          <a:solidFill>
            <a:srgbClr val="00B4D8"/>
          </a:solidFill>
          <a:ln/>
        </p:spPr>
      </p:sp>
      <p:sp>
        <p:nvSpPr>
          <p:cNvPr id="10" name="Text 8"/>
          <p:cNvSpPr txBox="1"/>
          <p:nvPr/>
        </p:nvSpPr>
        <p:spPr>
          <a:xfrm>
            <a:off x="1097280" y="3813048"/>
            <a:ext cx="4434840" cy="7772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Typical split: 80% training / 20% testing, with k-fold cross-validation to reduce overfitting</a:t>
            </a:r>
            <a:endParaRPr lang="en-US" sz="1100" dirty="0"/>
          </a:p>
        </p:txBody>
      </p:sp>
      <p:sp>
        <p:nvSpPr>
          <p:cNvPr id="11" name="Shape 9"/>
          <p:cNvSpPr/>
          <p:nvPr/>
        </p:nvSpPr>
        <p:spPr>
          <a:xfrm>
            <a:off x="868680" y="4809744"/>
            <a:ext cx="91440" cy="91440"/>
          </a:xfrm>
          <a:prstGeom prst="ellipse">
            <a:avLst/>
          </a:prstGeom>
          <a:solidFill>
            <a:srgbClr val="00B4D8"/>
          </a:solidFill>
          <a:ln/>
        </p:spPr>
      </p:sp>
      <p:sp>
        <p:nvSpPr>
          <p:cNvPr id="12" name="Text 10"/>
          <p:cNvSpPr txBox="1"/>
          <p:nvPr/>
        </p:nvSpPr>
        <p:spPr>
          <a:xfrm>
            <a:off x="1097280" y="4681728"/>
            <a:ext cx="4434840" cy="77724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Class imbalance handled via resampling or stratified sampling</a:t>
            </a:r>
            <a:endParaRPr lang="en-US" sz="1100" dirty="0"/>
          </a:p>
        </p:txBody>
      </p:sp>
      <p:sp>
        <p:nvSpPr>
          <p:cNvPr id="13" name="Text 11"/>
          <p:cNvSpPr txBox="1"/>
          <p:nvPr/>
        </p:nvSpPr>
        <p:spPr>
          <a:xfrm>
            <a:off x="5943600" y="1417320"/>
            <a:ext cx="548640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Feature Categories</a:t>
            </a:r>
            <a:endParaRPr lang="en-US" sz="1600" dirty="0"/>
          </a:p>
        </p:txBody>
      </p:sp>
      <p:sp>
        <p:nvSpPr>
          <p:cNvPr id="14" name="Shape 12"/>
          <p:cNvSpPr/>
          <p:nvPr/>
        </p:nvSpPr>
        <p:spPr>
          <a:xfrm>
            <a:off x="5943600" y="1920240"/>
            <a:ext cx="2560320" cy="1874520"/>
          </a:xfrm>
          <a:prstGeom prst="roundRect">
            <a:avLst>
              <a:gd name="adj" fmla="val 3902"/>
            </a:avLst>
          </a:prstGeom>
          <a:solidFill>
            <a:srgbClr val="EAF2FA"/>
          </a:solidFill>
          <a:ln/>
        </p:spPr>
      </p:sp>
      <p:sp>
        <p:nvSpPr>
          <p:cNvPr id="15" name="Text 13"/>
          <p:cNvSpPr txBox="1"/>
          <p:nvPr/>
        </p:nvSpPr>
        <p:spPr>
          <a:xfrm>
            <a:off x="6126480" y="2084832"/>
            <a:ext cx="2194560" cy="365760"/>
          </a:xfrm>
          <a:prstGeom prst="rect">
            <a:avLst/>
          </a:prstGeom>
          <a:noFill/>
          <a:ln/>
        </p:spPr>
        <p:txBody>
          <a:bodyPr wrap="square" lIns="0" tIns="0" rIns="0" bIns="0" rtlCol="0" anchor="ctr"/>
          <a:lstStyle/>
          <a:p>
            <a:pPr indent="0" marL="0">
              <a:buNone/>
            </a:pPr>
            <a:r>
              <a:rPr lang="en-US" sz="1300" b="1" dirty="0">
                <a:solidFill>
                  <a:srgbClr val="0096C7"/>
                </a:solidFill>
                <a:latin typeface="Cambria" pitchFamily="34" charset="0"/>
                <a:ea typeface="Cambria" pitchFamily="34" charset="-122"/>
                <a:cs typeface="Cambria" pitchFamily="34" charset="-120"/>
              </a:rPr>
              <a:t>URL-Based</a:t>
            </a:r>
            <a:endParaRPr lang="en-US" sz="1300" dirty="0"/>
          </a:p>
        </p:txBody>
      </p:sp>
      <p:sp>
        <p:nvSpPr>
          <p:cNvPr id="16" name="Text 14"/>
          <p:cNvSpPr txBox="1"/>
          <p:nvPr/>
        </p:nvSpPr>
        <p:spPr>
          <a:xfrm>
            <a:off x="6126480" y="2468880"/>
            <a:ext cx="2194560" cy="1234440"/>
          </a:xfrm>
          <a:prstGeom prst="rect">
            <a:avLst/>
          </a:prstGeom>
          <a:noFill/>
          <a:ln/>
        </p:spPr>
        <p:txBody>
          <a:bodyPr wrap="square" lIns="0" tIns="0" rIns="0" bIns="0" rtlCol="0" anchor="t"/>
          <a:lstStyle/>
          <a:p>
            <a:pPr indent="0" marL="0">
              <a:buNone/>
            </a:pPr>
            <a:r>
              <a:rPr lang="en-US" sz="1050" dirty="0">
                <a:solidFill>
                  <a:srgbClr val="14314F"/>
                </a:solidFill>
                <a:latin typeface="Calibri" pitchFamily="34" charset="0"/>
                <a:ea typeface="Calibri" pitchFamily="34" charset="-122"/>
                <a:cs typeface="Calibri" pitchFamily="34" charset="-120"/>
              </a:rPr>
              <a:t>Length, use of @ or IP address, hyphens, subdomain count, HTTPS presence</a:t>
            </a:r>
            <a:endParaRPr lang="en-US" sz="1050" dirty="0"/>
          </a:p>
        </p:txBody>
      </p:sp>
      <p:sp>
        <p:nvSpPr>
          <p:cNvPr id="17" name="Shape 15"/>
          <p:cNvSpPr/>
          <p:nvPr/>
        </p:nvSpPr>
        <p:spPr>
          <a:xfrm>
            <a:off x="8686800" y="1920240"/>
            <a:ext cx="2560320" cy="1874520"/>
          </a:xfrm>
          <a:prstGeom prst="roundRect">
            <a:avLst>
              <a:gd name="adj" fmla="val 3902"/>
            </a:avLst>
          </a:prstGeom>
          <a:solidFill>
            <a:srgbClr val="EAF2FA"/>
          </a:solidFill>
          <a:ln/>
        </p:spPr>
      </p:sp>
      <p:sp>
        <p:nvSpPr>
          <p:cNvPr id="18" name="Text 16"/>
          <p:cNvSpPr txBox="1"/>
          <p:nvPr/>
        </p:nvSpPr>
        <p:spPr>
          <a:xfrm>
            <a:off x="8869680" y="2084832"/>
            <a:ext cx="2194560" cy="365760"/>
          </a:xfrm>
          <a:prstGeom prst="rect">
            <a:avLst/>
          </a:prstGeom>
          <a:noFill/>
          <a:ln/>
        </p:spPr>
        <p:txBody>
          <a:bodyPr wrap="square" lIns="0" tIns="0" rIns="0" bIns="0" rtlCol="0" anchor="ctr"/>
          <a:lstStyle/>
          <a:p>
            <a:pPr indent="0" marL="0">
              <a:buNone/>
            </a:pPr>
            <a:r>
              <a:rPr lang="en-US" sz="1300" b="1" dirty="0">
                <a:solidFill>
                  <a:srgbClr val="0096C7"/>
                </a:solidFill>
                <a:latin typeface="Cambria" pitchFamily="34" charset="0"/>
                <a:ea typeface="Cambria" pitchFamily="34" charset="-122"/>
                <a:cs typeface="Cambria" pitchFamily="34" charset="-120"/>
              </a:rPr>
              <a:t>Domain-Based</a:t>
            </a:r>
            <a:endParaRPr lang="en-US" sz="1300" dirty="0"/>
          </a:p>
        </p:txBody>
      </p:sp>
      <p:sp>
        <p:nvSpPr>
          <p:cNvPr id="19" name="Text 17"/>
          <p:cNvSpPr txBox="1"/>
          <p:nvPr/>
        </p:nvSpPr>
        <p:spPr>
          <a:xfrm>
            <a:off x="8869680" y="2468880"/>
            <a:ext cx="2194560" cy="1234440"/>
          </a:xfrm>
          <a:prstGeom prst="rect">
            <a:avLst/>
          </a:prstGeom>
          <a:noFill/>
          <a:ln/>
        </p:spPr>
        <p:txBody>
          <a:bodyPr wrap="square" lIns="0" tIns="0" rIns="0" bIns="0" rtlCol="0" anchor="t"/>
          <a:lstStyle/>
          <a:p>
            <a:pPr indent="0" marL="0">
              <a:buNone/>
            </a:pPr>
            <a:r>
              <a:rPr lang="en-US" sz="1050" dirty="0">
                <a:solidFill>
                  <a:srgbClr val="14314F"/>
                </a:solidFill>
                <a:latin typeface="Calibri" pitchFamily="34" charset="0"/>
                <a:ea typeface="Calibri" pitchFamily="34" charset="-122"/>
                <a:cs typeface="Calibri" pitchFamily="34" charset="-120"/>
              </a:rPr>
              <a:t>Domain age, WHOIS registration length, DNS record, SSL certificate validity</a:t>
            </a:r>
            <a:endParaRPr lang="en-US" sz="1050" dirty="0"/>
          </a:p>
        </p:txBody>
      </p:sp>
      <p:sp>
        <p:nvSpPr>
          <p:cNvPr id="20" name="Shape 18"/>
          <p:cNvSpPr/>
          <p:nvPr/>
        </p:nvSpPr>
        <p:spPr>
          <a:xfrm>
            <a:off x="5943600" y="4023360"/>
            <a:ext cx="2560320" cy="1874520"/>
          </a:xfrm>
          <a:prstGeom prst="roundRect">
            <a:avLst>
              <a:gd name="adj" fmla="val 3902"/>
            </a:avLst>
          </a:prstGeom>
          <a:solidFill>
            <a:srgbClr val="EAF2FA"/>
          </a:solidFill>
          <a:ln/>
        </p:spPr>
      </p:sp>
      <p:sp>
        <p:nvSpPr>
          <p:cNvPr id="21" name="Text 19"/>
          <p:cNvSpPr txBox="1"/>
          <p:nvPr/>
        </p:nvSpPr>
        <p:spPr>
          <a:xfrm>
            <a:off x="6126480" y="4187952"/>
            <a:ext cx="2194560" cy="365760"/>
          </a:xfrm>
          <a:prstGeom prst="rect">
            <a:avLst/>
          </a:prstGeom>
          <a:noFill/>
          <a:ln/>
        </p:spPr>
        <p:txBody>
          <a:bodyPr wrap="square" lIns="0" tIns="0" rIns="0" bIns="0" rtlCol="0" anchor="ctr"/>
          <a:lstStyle/>
          <a:p>
            <a:pPr indent="0" marL="0">
              <a:buNone/>
            </a:pPr>
            <a:r>
              <a:rPr lang="en-US" sz="1300" b="1" dirty="0">
                <a:solidFill>
                  <a:srgbClr val="0096C7"/>
                </a:solidFill>
                <a:latin typeface="Cambria" pitchFamily="34" charset="0"/>
                <a:ea typeface="Cambria" pitchFamily="34" charset="-122"/>
                <a:cs typeface="Cambria" pitchFamily="34" charset="-120"/>
              </a:rPr>
              <a:t>Content-Based</a:t>
            </a:r>
            <a:endParaRPr lang="en-US" sz="1300" dirty="0"/>
          </a:p>
        </p:txBody>
      </p:sp>
      <p:sp>
        <p:nvSpPr>
          <p:cNvPr id="22" name="Text 20"/>
          <p:cNvSpPr txBox="1"/>
          <p:nvPr/>
        </p:nvSpPr>
        <p:spPr>
          <a:xfrm>
            <a:off x="6126480" y="4572000"/>
            <a:ext cx="2194560" cy="1234440"/>
          </a:xfrm>
          <a:prstGeom prst="rect">
            <a:avLst/>
          </a:prstGeom>
          <a:noFill/>
          <a:ln/>
        </p:spPr>
        <p:txBody>
          <a:bodyPr wrap="square" lIns="0" tIns="0" rIns="0" bIns="0" rtlCol="0" anchor="t"/>
          <a:lstStyle/>
          <a:p>
            <a:pPr indent="0" marL="0">
              <a:buNone/>
            </a:pPr>
            <a:r>
              <a:rPr lang="en-US" sz="1050" dirty="0">
                <a:solidFill>
                  <a:srgbClr val="14314F"/>
                </a:solidFill>
                <a:latin typeface="Calibri" pitchFamily="34" charset="0"/>
                <a:ea typeface="Calibri" pitchFamily="34" charset="-122"/>
                <a:cs typeface="Calibri" pitchFamily="34" charset="-120"/>
              </a:rPr>
              <a:t>Hidden iframes, pop-ups, login forms, external links, right-click disabling</a:t>
            </a:r>
            <a:endParaRPr lang="en-US" sz="1050" dirty="0"/>
          </a:p>
        </p:txBody>
      </p:sp>
      <p:sp>
        <p:nvSpPr>
          <p:cNvPr id="23" name="Shape 21"/>
          <p:cNvSpPr/>
          <p:nvPr/>
        </p:nvSpPr>
        <p:spPr>
          <a:xfrm>
            <a:off x="8686800" y="4023360"/>
            <a:ext cx="2560320" cy="1874520"/>
          </a:xfrm>
          <a:prstGeom prst="roundRect">
            <a:avLst>
              <a:gd name="adj" fmla="val 3902"/>
            </a:avLst>
          </a:prstGeom>
          <a:solidFill>
            <a:srgbClr val="EAF2FA"/>
          </a:solidFill>
          <a:ln/>
        </p:spPr>
      </p:sp>
      <p:sp>
        <p:nvSpPr>
          <p:cNvPr id="24" name="Text 22"/>
          <p:cNvSpPr txBox="1"/>
          <p:nvPr/>
        </p:nvSpPr>
        <p:spPr>
          <a:xfrm>
            <a:off x="8869680" y="4187952"/>
            <a:ext cx="2194560" cy="365760"/>
          </a:xfrm>
          <a:prstGeom prst="rect">
            <a:avLst/>
          </a:prstGeom>
          <a:noFill/>
          <a:ln/>
        </p:spPr>
        <p:txBody>
          <a:bodyPr wrap="square" lIns="0" tIns="0" rIns="0" bIns="0" rtlCol="0" anchor="ctr"/>
          <a:lstStyle/>
          <a:p>
            <a:pPr indent="0" marL="0">
              <a:buNone/>
            </a:pPr>
            <a:r>
              <a:rPr lang="en-US" sz="1300" b="1" dirty="0">
                <a:solidFill>
                  <a:srgbClr val="0096C7"/>
                </a:solidFill>
                <a:latin typeface="Cambria" pitchFamily="34" charset="0"/>
                <a:ea typeface="Cambria" pitchFamily="34" charset="-122"/>
                <a:cs typeface="Cambria" pitchFamily="34" charset="-120"/>
              </a:rPr>
              <a:t>Behavioral/Abnormal</a:t>
            </a:r>
            <a:endParaRPr lang="en-US" sz="1300" dirty="0"/>
          </a:p>
        </p:txBody>
      </p:sp>
      <p:sp>
        <p:nvSpPr>
          <p:cNvPr id="25" name="Text 23"/>
          <p:cNvSpPr txBox="1"/>
          <p:nvPr/>
        </p:nvSpPr>
        <p:spPr>
          <a:xfrm>
            <a:off x="8869680" y="4572000"/>
            <a:ext cx="2194560" cy="1234440"/>
          </a:xfrm>
          <a:prstGeom prst="rect">
            <a:avLst/>
          </a:prstGeom>
          <a:noFill/>
          <a:ln/>
        </p:spPr>
        <p:txBody>
          <a:bodyPr wrap="square" lIns="0" tIns="0" rIns="0" bIns="0" rtlCol="0" anchor="t"/>
          <a:lstStyle/>
          <a:p>
            <a:pPr indent="0" marL="0">
              <a:buNone/>
            </a:pPr>
            <a:r>
              <a:rPr lang="en-US" sz="1050" dirty="0">
                <a:solidFill>
                  <a:srgbClr val="14314F"/>
                </a:solidFill>
                <a:latin typeface="Calibri" pitchFamily="34" charset="0"/>
                <a:ea typeface="Calibri" pitchFamily="34" charset="-122"/>
                <a:cs typeface="Calibri" pitchFamily="34" charset="-120"/>
              </a:rPr>
              <a:t>Redirect count, status bar customization, mismatched anchor tags</a:t>
            </a:r>
            <a:endParaRPr lang="en-US" sz="1050" dirty="0"/>
          </a:p>
        </p:txBody>
      </p:sp>
      <p:sp>
        <p:nvSpPr>
          <p:cNvPr id="26" name="Text 24"/>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A9BB0"/>
                </a:solidFill>
                <a:latin typeface="Calibri" pitchFamily="34" charset="0"/>
                <a:ea typeface="Calibri" pitchFamily="34" charset="-122"/>
                <a:cs typeface="Calibri" pitchFamily="34" charset="-120"/>
              </a:rPr>
              <a:t>Phishing Website Detection Using Machine Learning</a:t>
            </a:r>
            <a:endParaRPr lang="en-US" sz="900" dirty="0"/>
          </a:p>
        </p:txBody>
      </p:sp>
      <p:sp>
        <p:nvSpPr>
          <p:cNvPr id="27" name="Text 25"/>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502920"/>
            <a:ext cx="10515600" cy="548640"/>
          </a:xfrm>
          <a:prstGeom prst="rect">
            <a:avLst/>
          </a:prstGeom>
          <a:noFill/>
          <a:ln/>
        </p:spPr>
        <p:txBody>
          <a:bodyPr wrap="square" rtlCol="0"/>
          <a:lstStyle/>
          <a:p>
            <a:pPr algn="l" indent="0" marL="0">
              <a:buNone/>
            </a:pPr>
            <a:r>
              <a:rPr lang="en-US" sz="3000" b="1" dirty="0">
                <a:solidFill>
                  <a:srgbClr val="0B1F3A"/>
                </a:solidFill>
                <a:latin typeface="Cambria" pitchFamily="34" charset="0"/>
                <a:ea typeface="Cambria" pitchFamily="34" charset="-122"/>
                <a:cs typeface="Cambria" pitchFamily="34" charset="-120"/>
              </a:rPr>
              <a:t>CORE ALGORITHMS EXPLAINED</a:t>
            </a:r>
            <a:endParaRPr lang="en-US" sz="3000" dirty="0"/>
          </a:p>
        </p:txBody>
      </p:sp>
      <p:sp>
        <p:nvSpPr>
          <p:cNvPr id="3" name="Shape 1"/>
          <p:cNvSpPr/>
          <p:nvPr/>
        </p:nvSpPr>
        <p:spPr>
          <a:xfrm>
            <a:off x="548640" y="1371600"/>
            <a:ext cx="3355848" cy="2423160"/>
          </a:xfrm>
          <a:prstGeom prst="roundRect">
            <a:avLst>
              <a:gd name="adj" fmla="val 3019"/>
            </a:avLst>
          </a:prstGeom>
          <a:solidFill>
            <a:srgbClr val="EAF2FA"/>
          </a:solidFill>
          <a:ln w="9525">
            <a:solidFill>
              <a:srgbClr val="90E0EF"/>
            </a:solidFill>
            <a:prstDash val="solid"/>
          </a:ln>
        </p:spPr>
      </p:sp>
      <p:sp>
        <p:nvSpPr>
          <p:cNvPr id="4" name="Text 2"/>
          <p:cNvSpPr txBox="1"/>
          <p:nvPr/>
        </p:nvSpPr>
        <p:spPr>
          <a:xfrm>
            <a:off x="731520" y="1536192"/>
            <a:ext cx="2990088" cy="502920"/>
          </a:xfrm>
          <a:prstGeom prst="rect">
            <a:avLst/>
          </a:prstGeom>
          <a:noFill/>
          <a:ln/>
        </p:spPr>
        <p:txBody>
          <a:bodyPr wrap="square" lIns="0" tIns="0" rIns="0" bIns="0" rtlCol="0" anchor="t"/>
          <a:lstStyle/>
          <a:p>
            <a:pPr indent="0" marL="0">
              <a:buNone/>
            </a:pPr>
            <a:r>
              <a:rPr lang="en-US" sz="1350" b="1" dirty="0">
                <a:solidFill>
                  <a:srgbClr val="1C3F66"/>
                </a:solidFill>
                <a:latin typeface="Cambria" pitchFamily="34" charset="0"/>
                <a:ea typeface="Cambria" pitchFamily="34" charset="-122"/>
                <a:cs typeface="Cambria" pitchFamily="34" charset="-120"/>
              </a:rPr>
              <a:t>Logistic Regression</a:t>
            </a:r>
            <a:endParaRPr lang="en-US" sz="1350" dirty="0"/>
          </a:p>
        </p:txBody>
      </p:sp>
      <p:sp>
        <p:nvSpPr>
          <p:cNvPr id="5" name="Text 3"/>
          <p:cNvSpPr txBox="1"/>
          <p:nvPr/>
        </p:nvSpPr>
        <p:spPr>
          <a:xfrm>
            <a:off x="731520" y="2084832"/>
            <a:ext cx="2990088" cy="1554480"/>
          </a:xfrm>
          <a:prstGeom prst="rect">
            <a:avLst/>
          </a:prstGeom>
          <a:noFill/>
          <a:ln/>
        </p:spPr>
        <p:txBody>
          <a:bodyPr wrap="square" lIns="0" tIns="0" rIns="0" bIns="0" rtlCol="0" anchor="t"/>
          <a:lstStyle/>
          <a:p>
            <a:pPr indent="0" marL="0">
              <a:buNone/>
            </a:pPr>
            <a:r>
              <a:rPr lang="en-US" sz="1050" dirty="0">
                <a:solidFill>
                  <a:srgbClr val="14314F"/>
                </a:solidFill>
                <a:latin typeface="Calibri" pitchFamily="34" charset="0"/>
                <a:ea typeface="Calibri" pitchFamily="34" charset="-122"/>
                <a:cs typeface="Calibri" pitchFamily="34" charset="-120"/>
              </a:rPr>
              <a:t>A linear baseline classifier that estimates the probability a URL is phishing based on a weighted combination of its features. Fast and interpretable, used as a performance benchmark.</a:t>
            </a:r>
            <a:endParaRPr lang="en-US" sz="1050" dirty="0"/>
          </a:p>
        </p:txBody>
      </p:sp>
      <p:sp>
        <p:nvSpPr>
          <p:cNvPr id="6" name="Shape 4"/>
          <p:cNvSpPr/>
          <p:nvPr/>
        </p:nvSpPr>
        <p:spPr>
          <a:xfrm>
            <a:off x="4133088" y="1371600"/>
            <a:ext cx="3355848" cy="2423160"/>
          </a:xfrm>
          <a:prstGeom prst="roundRect">
            <a:avLst>
              <a:gd name="adj" fmla="val 3019"/>
            </a:avLst>
          </a:prstGeom>
          <a:solidFill>
            <a:srgbClr val="EAF2FA"/>
          </a:solidFill>
          <a:ln w="9525">
            <a:solidFill>
              <a:srgbClr val="90E0EF"/>
            </a:solidFill>
            <a:prstDash val="solid"/>
          </a:ln>
        </p:spPr>
      </p:sp>
      <p:sp>
        <p:nvSpPr>
          <p:cNvPr id="7" name="Text 5"/>
          <p:cNvSpPr txBox="1"/>
          <p:nvPr/>
        </p:nvSpPr>
        <p:spPr>
          <a:xfrm>
            <a:off x="4315968" y="1536192"/>
            <a:ext cx="2990088" cy="502920"/>
          </a:xfrm>
          <a:prstGeom prst="rect">
            <a:avLst/>
          </a:prstGeom>
          <a:noFill/>
          <a:ln/>
        </p:spPr>
        <p:txBody>
          <a:bodyPr wrap="square" lIns="0" tIns="0" rIns="0" bIns="0" rtlCol="0" anchor="t"/>
          <a:lstStyle/>
          <a:p>
            <a:pPr indent="0" marL="0">
              <a:buNone/>
            </a:pPr>
            <a:r>
              <a:rPr lang="en-US" sz="1350" b="1" dirty="0">
                <a:solidFill>
                  <a:srgbClr val="1C3F66"/>
                </a:solidFill>
                <a:latin typeface="Cambria" pitchFamily="34" charset="0"/>
                <a:ea typeface="Cambria" pitchFamily="34" charset="-122"/>
                <a:cs typeface="Cambria" pitchFamily="34" charset="-120"/>
              </a:rPr>
              <a:t>Decision Tree</a:t>
            </a:r>
            <a:endParaRPr lang="en-US" sz="1350" dirty="0"/>
          </a:p>
        </p:txBody>
      </p:sp>
      <p:sp>
        <p:nvSpPr>
          <p:cNvPr id="8" name="Text 6"/>
          <p:cNvSpPr txBox="1"/>
          <p:nvPr/>
        </p:nvSpPr>
        <p:spPr>
          <a:xfrm>
            <a:off x="4315968" y="2084832"/>
            <a:ext cx="2990088" cy="1554480"/>
          </a:xfrm>
          <a:prstGeom prst="rect">
            <a:avLst/>
          </a:prstGeom>
          <a:noFill/>
          <a:ln/>
        </p:spPr>
        <p:txBody>
          <a:bodyPr wrap="square" lIns="0" tIns="0" rIns="0" bIns="0" rtlCol="0" anchor="t"/>
          <a:lstStyle/>
          <a:p>
            <a:pPr indent="0" marL="0">
              <a:buNone/>
            </a:pPr>
            <a:r>
              <a:rPr lang="en-US" sz="1050" dirty="0">
                <a:solidFill>
                  <a:srgbClr val="14314F"/>
                </a:solidFill>
                <a:latin typeface="Calibri" pitchFamily="34" charset="0"/>
                <a:ea typeface="Calibri" pitchFamily="34" charset="-122"/>
                <a:cs typeface="Calibri" pitchFamily="34" charset="-120"/>
              </a:rPr>
              <a:t>Splits data on feature thresholds (e.g., URL length, domain age) to form a tree of rules. Easy to interpret but prone to overfitting on its own.</a:t>
            </a:r>
            <a:endParaRPr lang="en-US" sz="1050" dirty="0"/>
          </a:p>
        </p:txBody>
      </p:sp>
      <p:sp>
        <p:nvSpPr>
          <p:cNvPr id="9" name="Shape 7"/>
          <p:cNvSpPr/>
          <p:nvPr/>
        </p:nvSpPr>
        <p:spPr>
          <a:xfrm>
            <a:off x="7717536" y="1371600"/>
            <a:ext cx="3355848" cy="2423160"/>
          </a:xfrm>
          <a:prstGeom prst="roundRect">
            <a:avLst>
              <a:gd name="adj" fmla="val 3019"/>
            </a:avLst>
          </a:prstGeom>
          <a:solidFill>
            <a:srgbClr val="EAF2FA"/>
          </a:solidFill>
          <a:ln w="9525">
            <a:solidFill>
              <a:srgbClr val="90E0EF"/>
            </a:solidFill>
            <a:prstDash val="solid"/>
          </a:ln>
        </p:spPr>
      </p:sp>
      <p:sp>
        <p:nvSpPr>
          <p:cNvPr id="10" name="Text 8"/>
          <p:cNvSpPr txBox="1"/>
          <p:nvPr/>
        </p:nvSpPr>
        <p:spPr>
          <a:xfrm>
            <a:off x="7900416" y="1536192"/>
            <a:ext cx="2990088" cy="502920"/>
          </a:xfrm>
          <a:prstGeom prst="rect">
            <a:avLst/>
          </a:prstGeom>
          <a:noFill/>
          <a:ln/>
        </p:spPr>
        <p:txBody>
          <a:bodyPr wrap="square" lIns="0" tIns="0" rIns="0" bIns="0" rtlCol="0" anchor="t"/>
          <a:lstStyle/>
          <a:p>
            <a:pPr indent="0" marL="0">
              <a:buNone/>
            </a:pPr>
            <a:r>
              <a:rPr lang="en-US" sz="1350" b="1" dirty="0">
                <a:solidFill>
                  <a:srgbClr val="1C3F66"/>
                </a:solidFill>
                <a:latin typeface="Cambria" pitchFamily="34" charset="0"/>
                <a:ea typeface="Cambria" pitchFamily="34" charset="-122"/>
                <a:cs typeface="Cambria" pitchFamily="34" charset="-120"/>
              </a:rPr>
              <a:t>Random Forest</a:t>
            </a:r>
            <a:endParaRPr lang="en-US" sz="1350" dirty="0"/>
          </a:p>
        </p:txBody>
      </p:sp>
      <p:sp>
        <p:nvSpPr>
          <p:cNvPr id="11" name="Text 9"/>
          <p:cNvSpPr txBox="1"/>
          <p:nvPr/>
        </p:nvSpPr>
        <p:spPr>
          <a:xfrm>
            <a:off x="7900416" y="2084832"/>
            <a:ext cx="2990088" cy="1554480"/>
          </a:xfrm>
          <a:prstGeom prst="rect">
            <a:avLst/>
          </a:prstGeom>
          <a:noFill/>
          <a:ln/>
        </p:spPr>
        <p:txBody>
          <a:bodyPr wrap="square" lIns="0" tIns="0" rIns="0" bIns="0" rtlCol="0" anchor="t"/>
          <a:lstStyle/>
          <a:p>
            <a:pPr indent="0" marL="0">
              <a:buNone/>
            </a:pPr>
            <a:r>
              <a:rPr lang="en-US" sz="1050" dirty="0">
                <a:solidFill>
                  <a:srgbClr val="14314F"/>
                </a:solidFill>
                <a:latin typeface="Calibri" pitchFamily="34" charset="0"/>
                <a:ea typeface="Calibri" pitchFamily="34" charset="-122"/>
                <a:cs typeface="Calibri" pitchFamily="34" charset="-120"/>
              </a:rPr>
              <a:t>An ensemble of many decision trees trained on random data/feature subsets (bagging); final prediction is by majority vote. Reduces overfitting and handles mixed feature types well.</a:t>
            </a:r>
            <a:endParaRPr lang="en-US" sz="1050" dirty="0"/>
          </a:p>
        </p:txBody>
      </p:sp>
      <p:sp>
        <p:nvSpPr>
          <p:cNvPr id="12" name="Shape 10"/>
          <p:cNvSpPr/>
          <p:nvPr/>
        </p:nvSpPr>
        <p:spPr>
          <a:xfrm>
            <a:off x="548640" y="4023360"/>
            <a:ext cx="3355848" cy="2423160"/>
          </a:xfrm>
          <a:prstGeom prst="roundRect">
            <a:avLst>
              <a:gd name="adj" fmla="val 3019"/>
            </a:avLst>
          </a:prstGeom>
          <a:solidFill>
            <a:srgbClr val="EAF2FA"/>
          </a:solidFill>
          <a:ln w="9525">
            <a:solidFill>
              <a:srgbClr val="90E0EF"/>
            </a:solidFill>
            <a:prstDash val="solid"/>
          </a:ln>
        </p:spPr>
      </p:sp>
      <p:sp>
        <p:nvSpPr>
          <p:cNvPr id="13" name="Text 11"/>
          <p:cNvSpPr txBox="1"/>
          <p:nvPr/>
        </p:nvSpPr>
        <p:spPr>
          <a:xfrm>
            <a:off x="731520" y="4187952"/>
            <a:ext cx="2990088" cy="502920"/>
          </a:xfrm>
          <a:prstGeom prst="rect">
            <a:avLst/>
          </a:prstGeom>
          <a:noFill/>
          <a:ln/>
        </p:spPr>
        <p:txBody>
          <a:bodyPr wrap="square" lIns="0" tIns="0" rIns="0" bIns="0" rtlCol="0" anchor="t"/>
          <a:lstStyle/>
          <a:p>
            <a:pPr indent="0" marL="0">
              <a:buNone/>
            </a:pPr>
            <a:r>
              <a:rPr lang="en-US" sz="1350" b="1" dirty="0">
                <a:solidFill>
                  <a:srgbClr val="1C3F66"/>
                </a:solidFill>
                <a:latin typeface="Cambria" pitchFamily="34" charset="0"/>
                <a:ea typeface="Cambria" pitchFamily="34" charset="-122"/>
                <a:cs typeface="Cambria" pitchFamily="34" charset="-120"/>
              </a:rPr>
              <a:t>Support Vector Machine</a:t>
            </a:r>
            <a:endParaRPr lang="en-US" sz="1350" dirty="0"/>
          </a:p>
        </p:txBody>
      </p:sp>
      <p:sp>
        <p:nvSpPr>
          <p:cNvPr id="14" name="Text 12"/>
          <p:cNvSpPr txBox="1"/>
          <p:nvPr/>
        </p:nvSpPr>
        <p:spPr>
          <a:xfrm>
            <a:off x="731520" y="4736592"/>
            <a:ext cx="2990088" cy="1554480"/>
          </a:xfrm>
          <a:prstGeom prst="rect">
            <a:avLst/>
          </a:prstGeom>
          <a:noFill/>
          <a:ln/>
        </p:spPr>
        <p:txBody>
          <a:bodyPr wrap="square" lIns="0" tIns="0" rIns="0" bIns="0" rtlCol="0" anchor="t"/>
          <a:lstStyle/>
          <a:p>
            <a:pPr indent="0" marL="0">
              <a:buNone/>
            </a:pPr>
            <a:r>
              <a:rPr lang="en-US" sz="1050" dirty="0">
                <a:solidFill>
                  <a:srgbClr val="14314F"/>
                </a:solidFill>
                <a:latin typeface="Calibri" pitchFamily="34" charset="0"/>
                <a:ea typeface="Calibri" pitchFamily="34" charset="-122"/>
                <a:cs typeface="Calibri" pitchFamily="34" charset="-120"/>
              </a:rPr>
              <a:t>Finds the optimal hyperplane that best separates phishing from legitimate samples in feature space, using kernels to handle non-linear boundaries.</a:t>
            </a:r>
            <a:endParaRPr lang="en-US" sz="1050" dirty="0"/>
          </a:p>
        </p:txBody>
      </p:sp>
      <p:sp>
        <p:nvSpPr>
          <p:cNvPr id="15" name="Shape 13"/>
          <p:cNvSpPr/>
          <p:nvPr/>
        </p:nvSpPr>
        <p:spPr>
          <a:xfrm>
            <a:off x="4133088" y="4023360"/>
            <a:ext cx="3355848" cy="2423160"/>
          </a:xfrm>
          <a:prstGeom prst="roundRect">
            <a:avLst>
              <a:gd name="adj" fmla="val 3019"/>
            </a:avLst>
          </a:prstGeom>
          <a:solidFill>
            <a:srgbClr val="EAF2FA"/>
          </a:solidFill>
          <a:ln w="9525">
            <a:solidFill>
              <a:srgbClr val="90E0EF"/>
            </a:solidFill>
            <a:prstDash val="solid"/>
          </a:ln>
        </p:spPr>
      </p:sp>
      <p:sp>
        <p:nvSpPr>
          <p:cNvPr id="16" name="Text 14"/>
          <p:cNvSpPr txBox="1"/>
          <p:nvPr/>
        </p:nvSpPr>
        <p:spPr>
          <a:xfrm>
            <a:off x="4315968" y="4187952"/>
            <a:ext cx="2990088" cy="502920"/>
          </a:xfrm>
          <a:prstGeom prst="rect">
            <a:avLst/>
          </a:prstGeom>
          <a:noFill/>
          <a:ln/>
        </p:spPr>
        <p:txBody>
          <a:bodyPr wrap="square" lIns="0" tIns="0" rIns="0" bIns="0" rtlCol="0" anchor="t"/>
          <a:lstStyle/>
          <a:p>
            <a:pPr indent="0" marL="0">
              <a:buNone/>
            </a:pPr>
            <a:r>
              <a:rPr lang="en-US" sz="1350" b="1" dirty="0">
                <a:solidFill>
                  <a:srgbClr val="1C3F66"/>
                </a:solidFill>
                <a:latin typeface="Cambria" pitchFamily="34" charset="0"/>
                <a:ea typeface="Cambria" pitchFamily="34" charset="-122"/>
                <a:cs typeface="Cambria" pitchFamily="34" charset="-120"/>
              </a:rPr>
              <a:t>XGBoost / Gradient Boosting</a:t>
            </a:r>
            <a:endParaRPr lang="en-US" sz="1350" dirty="0"/>
          </a:p>
        </p:txBody>
      </p:sp>
      <p:sp>
        <p:nvSpPr>
          <p:cNvPr id="17" name="Text 15"/>
          <p:cNvSpPr txBox="1"/>
          <p:nvPr/>
        </p:nvSpPr>
        <p:spPr>
          <a:xfrm>
            <a:off x="4315968" y="4736592"/>
            <a:ext cx="2990088" cy="1554480"/>
          </a:xfrm>
          <a:prstGeom prst="rect">
            <a:avLst/>
          </a:prstGeom>
          <a:noFill/>
          <a:ln/>
        </p:spPr>
        <p:txBody>
          <a:bodyPr wrap="square" lIns="0" tIns="0" rIns="0" bIns="0" rtlCol="0" anchor="t"/>
          <a:lstStyle/>
          <a:p>
            <a:pPr indent="0" marL="0">
              <a:buNone/>
            </a:pPr>
            <a:r>
              <a:rPr lang="en-US" sz="1050" dirty="0">
                <a:solidFill>
                  <a:srgbClr val="14314F"/>
                </a:solidFill>
                <a:latin typeface="Calibri" pitchFamily="34" charset="0"/>
                <a:ea typeface="Calibri" pitchFamily="34" charset="-122"/>
                <a:cs typeface="Calibri" pitchFamily="34" charset="-120"/>
              </a:rPr>
              <a:t>Builds trees sequentially, each correcting the errors of the previous one (boosting). Delivers very high accuracy and is widely reported as a top performer in the literature.</a:t>
            </a:r>
            <a:endParaRPr lang="en-US" sz="1050" dirty="0"/>
          </a:p>
        </p:txBody>
      </p:sp>
      <p:sp>
        <p:nvSpPr>
          <p:cNvPr id="18" name="Shape 16"/>
          <p:cNvSpPr/>
          <p:nvPr/>
        </p:nvSpPr>
        <p:spPr>
          <a:xfrm>
            <a:off x="7717536" y="4023360"/>
            <a:ext cx="3355848" cy="2423160"/>
          </a:xfrm>
          <a:prstGeom prst="roundRect">
            <a:avLst>
              <a:gd name="adj" fmla="val 3019"/>
            </a:avLst>
          </a:prstGeom>
          <a:solidFill>
            <a:srgbClr val="EAF2FA"/>
          </a:solidFill>
          <a:ln w="9525">
            <a:solidFill>
              <a:srgbClr val="90E0EF"/>
            </a:solidFill>
            <a:prstDash val="solid"/>
          </a:ln>
        </p:spPr>
      </p:sp>
      <p:sp>
        <p:nvSpPr>
          <p:cNvPr id="19" name="Text 17"/>
          <p:cNvSpPr txBox="1"/>
          <p:nvPr/>
        </p:nvSpPr>
        <p:spPr>
          <a:xfrm>
            <a:off x="7900416" y="4187952"/>
            <a:ext cx="2990088" cy="502920"/>
          </a:xfrm>
          <a:prstGeom prst="rect">
            <a:avLst/>
          </a:prstGeom>
          <a:noFill/>
          <a:ln/>
        </p:spPr>
        <p:txBody>
          <a:bodyPr wrap="square" lIns="0" tIns="0" rIns="0" bIns="0" rtlCol="0" anchor="t"/>
          <a:lstStyle/>
          <a:p>
            <a:pPr indent="0" marL="0">
              <a:buNone/>
            </a:pPr>
            <a:r>
              <a:rPr lang="en-US" sz="1350" b="1" dirty="0">
                <a:solidFill>
                  <a:srgbClr val="1C3F66"/>
                </a:solidFill>
                <a:latin typeface="Cambria" pitchFamily="34" charset="0"/>
                <a:ea typeface="Cambria" pitchFamily="34" charset="-122"/>
                <a:cs typeface="Cambria" pitchFamily="34" charset="-120"/>
              </a:rPr>
              <a:t>Deep Learning (CNN/LSTM)</a:t>
            </a:r>
            <a:endParaRPr lang="en-US" sz="1350" dirty="0"/>
          </a:p>
        </p:txBody>
      </p:sp>
      <p:sp>
        <p:nvSpPr>
          <p:cNvPr id="20" name="Text 18"/>
          <p:cNvSpPr txBox="1"/>
          <p:nvPr/>
        </p:nvSpPr>
        <p:spPr>
          <a:xfrm>
            <a:off x="7900416" y="4736592"/>
            <a:ext cx="2990088" cy="1554480"/>
          </a:xfrm>
          <a:prstGeom prst="rect">
            <a:avLst/>
          </a:prstGeom>
          <a:noFill/>
          <a:ln/>
        </p:spPr>
        <p:txBody>
          <a:bodyPr wrap="square" lIns="0" tIns="0" rIns="0" bIns="0" rtlCol="0" anchor="t"/>
          <a:lstStyle/>
          <a:p>
            <a:pPr indent="0" marL="0">
              <a:buNone/>
            </a:pPr>
            <a:r>
              <a:rPr lang="en-US" sz="1050" dirty="0">
                <a:solidFill>
                  <a:srgbClr val="14314F"/>
                </a:solidFill>
                <a:latin typeface="Calibri" pitchFamily="34" charset="0"/>
                <a:ea typeface="Calibri" pitchFamily="34" charset="-122"/>
                <a:cs typeface="Calibri" pitchFamily="34" charset="-120"/>
              </a:rPr>
              <a:t>Learns character- or sequence-level patterns directly from raw URLs/HTML without manual feature engineering; effective against novel, zero-day phishing patterns.</a:t>
            </a:r>
            <a:endParaRPr lang="en-US" sz="1050" dirty="0"/>
          </a:p>
        </p:txBody>
      </p:sp>
      <p:sp>
        <p:nvSpPr>
          <p:cNvPr id="21" name="Text 19"/>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A9BB0"/>
                </a:solidFill>
                <a:latin typeface="Calibri" pitchFamily="34" charset="0"/>
                <a:ea typeface="Calibri" pitchFamily="34" charset="-122"/>
                <a:cs typeface="Calibri" pitchFamily="34" charset="-120"/>
              </a:rPr>
              <a:t>Phishing Website Detection Using Machine Learning</a:t>
            </a:r>
            <a:endParaRPr lang="en-US" sz="900" dirty="0"/>
          </a:p>
        </p:txBody>
      </p:sp>
      <p:sp>
        <p:nvSpPr>
          <p:cNvPr id="22" name="Text 20"/>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502920"/>
            <a:ext cx="10515600" cy="548640"/>
          </a:xfrm>
          <a:prstGeom prst="rect">
            <a:avLst/>
          </a:prstGeom>
          <a:noFill/>
          <a:ln/>
        </p:spPr>
        <p:txBody>
          <a:bodyPr wrap="square" rtlCol="0"/>
          <a:lstStyle/>
          <a:p>
            <a:pPr algn="l" indent="0" marL="0">
              <a:buNone/>
            </a:pPr>
            <a:r>
              <a:rPr lang="en-US" sz="3000" b="1" dirty="0">
                <a:solidFill>
                  <a:srgbClr val="0B1F3A"/>
                </a:solidFill>
                <a:latin typeface="Cambria" pitchFamily="34" charset="0"/>
                <a:ea typeface="Cambria" pitchFamily="34" charset="-122"/>
                <a:cs typeface="Cambria" pitchFamily="34" charset="-120"/>
              </a:rPr>
              <a:t>ALGORITHM COMPARISON</a:t>
            </a:r>
            <a:endParaRPr lang="en-US" sz="3000" dirty="0"/>
          </a:p>
        </p:txBody>
      </p:sp>
      <p:graphicFrame>
        <p:nvGraphicFramePr>
          <p:cNvPr id="3" name="Chart 0" descr=""/>
          <p:cNvGraphicFramePr/>
          <p:nvPr/>
        </p:nvGraphicFramePr>
        <p:xfrm>
          <a:off x="548640" y="1417320"/>
          <a:ext cx="6858000" cy="46634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635240" y="1417320"/>
            <a:ext cx="4023360" cy="4663440"/>
          </a:xfrm>
          <a:prstGeom prst="roundRect">
            <a:avLst>
              <a:gd name="adj" fmla="val 1818"/>
            </a:avLst>
          </a:prstGeom>
          <a:solidFill>
            <a:srgbClr val="EAF2FA"/>
          </a:solidFill>
          <a:ln/>
        </p:spPr>
      </p:sp>
      <p:sp>
        <p:nvSpPr>
          <p:cNvPr id="5" name="Text 2"/>
          <p:cNvSpPr txBox="1"/>
          <p:nvPr/>
        </p:nvSpPr>
        <p:spPr>
          <a:xfrm>
            <a:off x="7863840" y="1627632"/>
            <a:ext cx="3566160" cy="365760"/>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Reading the Comparison</a:t>
            </a:r>
            <a:endParaRPr lang="en-US" sz="1400" dirty="0"/>
          </a:p>
        </p:txBody>
      </p:sp>
      <p:sp>
        <p:nvSpPr>
          <p:cNvPr id="6" name="Shape 3"/>
          <p:cNvSpPr/>
          <p:nvPr/>
        </p:nvSpPr>
        <p:spPr>
          <a:xfrm>
            <a:off x="7863840" y="2203704"/>
            <a:ext cx="91440" cy="91440"/>
          </a:xfrm>
          <a:prstGeom prst="ellipse">
            <a:avLst/>
          </a:prstGeom>
          <a:solidFill>
            <a:srgbClr val="0096C7"/>
          </a:solidFill>
          <a:ln/>
        </p:spPr>
      </p:sp>
      <p:sp>
        <p:nvSpPr>
          <p:cNvPr id="7" name="Text 4"/>
          <p:cNvSpPr txBox="1"/>
          <p:nvPr/>
        </p:nvSpPr>
        <p:spPr>
          <a:xfrm>
            <a:off x="8092440" y="2075688"/>
            <a:ext cx="3337560" cy="822960"/>
          </a:xfrm>
          <a:prstGeom prst="rect">
            <a:avLst/>
          </a:prstGeom>
          <a:noFill/>
          <a:ln/>
        </p:spPr>
        <p:txBody>
          <a:bodyPr wrap="square" lIns="0" tIns="0" rIns="0" bIns="0" rtlCol="0" anchor="ctr"/>
          <a:lstStyle/>
          <a:p>
            <a:pPr indent="0" marL="0">
              <a:buNone/>
            </a:pPr>
            <a:r>
              <a:rPr lang="en-US" sz="1050" dirty="0">
                <a:solidFill>
                  <a:srgbClr val="14314F"/>
                </a:solidFill>
                <a:latin typeface="Calibri" pitchFamily="34" charset="0"/>
                <a:ea typeface="Calibri" pitchFamily="34" charset="-122"/>
                <a:cs typeface="Calibri" pitchFamily="34" charset="-120"/>
              </a:rPr>
              <a:t>Values are representative accuracy ranges drawn from the literature reviewed, not from a single benchmark run.</a:t>
            </a:r>
            <a:endParaRPr lang="en-US" sz="1050" dirty="0"/>
          </a:p>
        </p:txBody>
      </p:sp>
      <p:sp>
        <p:nvSpPr>
          <p:cNvPr id="8" name="Shape 5"/>
          <p:cNvSpPr/>
          <p:nvPr/>
        </p:nvSpPr>
        <p:spPr>
          <a:xfrm>
            <a:off x="7863840" y="3072384"/>
            <a:ext cx="91440" cy="91440"/>
          </a:xfrm>
          <a:prstGeom prst="ellipse">
            <a:avLst/>
          </a:prstGeom>
          <a:solidFill>
            <a:srgbClr val="0096C7"/>
          </a:solidFill>
          <a:ln/>
        </p:spPr>
      </p:sp>
      <p:sp>
        <p:nvSpPr>
          <p:cNvPr id="9" name="Text 6"/>
          <p:cNvSpPr txBox="1"/>
          <p:nvPr/>
        </p:nvSpPr>
        <p:spPr>
          <a:xfrm>
            <a:off x="8092440" y="2944368"/>
            <a:ext cx="3337560" cy="822960"/>
          </a:xfrm>
          <a:prstGeom prst="rect">
            <a:avLst/>
          </a:prstGeom>
          <a:noFill/>
          <a:ln/>
        </p:spPr>
        <p:txBody>
          <a:bodyPr wrap="square" lIns="0" tIns="0" rIns="0" bIns="0" rtlCol="0" anchor="ctr"/>
          <a:lstStyle/>
          <a:p>
            <a:pPr indent="0" marL="0">
              <a:buNone/>
            </a:pPr>
            <a:r>
              <a:rPr lang="en-US" sz="1050" dirty="0">
                <a:solidFill>
                  <a:srgbClr val="14314F"/>
                </a:solidFill>
                <a:latin typeface="Calibri" pitchFamily="34" charset="0"/>
                <a:ea typeface="Calibri" pitchFamily="34" charset="-122"/>
                <a:cs typeface="Calibri" pitchFamily="34" charset="-120"/>
              </a:rPr>
              <a:t>Ensemble methods (Random Forest, XGBoost) consistently top classical ML comparisons.</a:t>
            </a:r>
            <a:endParaRPr lang="en-US" sz="1050" dirty="0"/>
          </a:p>
        </p:txBody>
      </p:sp>
      <p:sp>
        <p:nvSpPr>
          <p:cNvPr id="10" name="Shape 7"/>
          <p:cNvSpPr/>
          <p:nvPr/>
        </p:nvSpPr>
        <p:spPr>
          <a:xfrm>
            <a:off x="7863840" y="3941064"/>
            <a:ext cx="91440" cy="91440"/>
          </a:xfrm>
          <a:prstGeom prst="ellipse">
            <a:avLst/>
          </a:prstGeom>
          <a:solidFill>
            <a:srgbClr val="0096C7"/>
          </a:solidFill>
          <a:ln/>
        </p:spPr>
      </p:sp>
      <p:sp>
        <p:nvSpPr>
          <p:cNvPr id="11" name="Text 8"/>
          <p:cNvSpPr txBox="1"/>
          <p:nvPr/>
        </p:nvSpPr>
        <p:spPr>
          <a:xfrm>
            <a:off x="8092440" y="3813048"/>
            <a:ext cx="3337560" cy="822960"/>
          </a:xfrm>
          <a:prstGeom prst="rect">
            <a:avLst/>
          </a:prstGeom>
          <a:noFill/>
          <a:ln/>
        </p:spPr>
        <p:txBody>
          <a:bodyPr wrap="square" lIns="0" tIns="0" rIns="0" bIns="0" rtlCol="0" anchor="ctr"/>
          <a:lstStyle/>
          <a:p>
            <a:pPr indent="0" marL="0">
              <a:buNone/>
            </a:pPr>
            <a:r>
              <a:rPr lang="en-US" sz="1050" dirty="0">
                <a:solidFill>
                  <a:srgbClr val="14314F"/>
                </a:solidFill>
                <a:latin typeface="Calibri" pitchFamily="34" charset="0"/>
                <a:ea typeface="Calibri" pitchFamily="34" charset="-122"/>
                <a:cs typeface="Calibri" pitchFamily="34" charset="-120"/>
              </a:rPr>
              <a:t>Deep learning models (CNN-LSTM hybrids) close the gap and generalize better to unseen, zero-day URLs.</a:t>
            </a:r>
            <a:endParaRPr lang="en-US" sz="1050" dirty="0"/>
          </a:p>
        </p:txBody>
      </p:sp>
      <p:sp>
        <p:nvSpPr>
          <p:cNvPr id="12" name="Shape 9"/>
          <p:cNvSpPr/>
          <p:nvPr/>
        </p:nvSpPr>
        <p:spPr>
          <a:xfrm>
            <a:off x="7863840" y="4809744"/>
            <a:ext cx="91440" cy="91440"/>
          </a:xfrm>
          <a:prstGeom prst="ellipse">
            <a:avLst/>
          </a:prstGeom>
          <a:solidFill>
            <a:srgbClr val="0096C7"/>
          </a:solidFill>
          <a:ln/>
        </p:spPr>
      </p:sp>
      <p:sp>
        <p:nvSpPr>
          <p:cNvPr id="13" name="Text 10"/>
          <p:cNvSpPr txBox="1"/>
          <p:nvPr/>
        </p:nvSpPr>
        <p:spPr>
          <a:xfrm>
            <a:off x="8092440" y="4681728"/>
            <a:ext cx="3337560" cy="822960"/>
          </a:xfrm>
          <a:prstGeom prst="rect">
            <a:avLst/>
          </a:prstGeom>
          <a:noFill/>
          <a:ln/>
        </p:spPr>
        <p:txBody>
          <a:bodyPr wrap="square" lIns="0" tIns="0" rIns="0" bIns="0" rtlCol="0" anchor="ctr"/>
          <a:lstStyle/>
          <a:p>
            <a:pPr indent="0" marL="0">
              <a:buNone/>
            </a:pPr>
            <a:r>
              <a:rPr lang="en-US" sz="1050" dirty="0">
                <a:solidFill>
                  <a:srgbClr val="14314F"/>
                </a:solidFill>
                <a:latin typeface="Calibri" pitchFamily="34" charset="0"/>
                <a:ea typeface="Calibri" pitchFamily="34" charset="-122"/>
                <a:cs typeface="Calibri" pitchFamily="34" charset="-120"/>
              </a:rPr>
              <a:t>Simpler models (Logistic Regression, Decision Tree) remain useful as fast, interpretable baselines.</a:t>
            </a:r>
            <a:endParaRPr lang="en-US" sz="1050" dirty="0"/>
          </a:p>
        </p:txBody>
      </p:sp>
      <p:sp>
        <p:nvSpPr>
          <p:cNvPr id="14" name="Text 11"/>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A9BB0"/>
                </a:solidFill>
                <a:latin typeface="Calibri" pitchFamily="34" charset="0"/>
                <a:ea typeface="Calibri" pitchFamily="34" charset="-122"/>
                <a:cs typeface="Calibri" pitchFamily="34" charset="-120"/>
              </a:rPr>
              <a:t>Phishing Website Detection Using Machine Learning</a:t>
            </a:r>
            <a:endParaRPr lang="en-US" sz="900" dirty="0"/>
          </a:p>
        </p:txBody>
      </p:sp>
      <p:sp>
        <p:nvSpPr>
          <p:cNvPr id="15" name="Text 12"/>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502920"/>
            <a:ext cx="10515600" cy="548640"/>
          </a:xfrm>
          <a:prstGeom prst="rect">
            <a:avLst/>
          </a:prstGeom>
          <a:noFill/>
          <a:ln/>
        </p:spPr>
        <p:txBody>
          <a:bodyPr wrap="square" rtlCol="0"/>
          <a:lstStyle/>
          <a:p>
            <a:pPr algn="l" indent="0" marL="0">
              <a:buNone/>
            </a:pPr>
            <a:r>
              <a:rPr lang="en-US" sz="3000" b="1" dirty="0">
                <a:solidFill>
                  <a:srgbClr val="0B1F3A"/>
                </a:solidFill>
                <a:latin typeface="Cambria" pitchFamily="34" charset="0"/>
                <a:ea typeface="Cambria" pitchFamily="34" charset="-122"/>
                <a:cs typeface="Cambria" pitchFamily="34" charset="-120"/>
              </a:rPr>
              <a:t>IMPLEMENTATION IDEA</a:t>
            </a:r>
            <a:endParaRPr lang="en-US" sz="3000" dirty="0"/>
          </a:p>
        </p:txBody>
      </p:sp>
      <p:sp>
        <p:nvSpPr>
          <p:cNvPr id="3" name="Text 1"/>
          <p:cNvSpPr txBox="1"/>
          <p:nvPr/>
        </p:nvSpPr>
        <p:spPr>
          <a:xfrm>
            <a:off x="548640" y="1371600"/>
            <a:ext cx="5486400" cy="36576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Proposed Technology Stack</a:t>
            </a:r>
            <a:endParaRPr lang="en-US" sz="1500" dirty="0"/>
          </a:p>
        </p:txBody>
      </p:sp>
      <p:sp>
        <p:nvSpPr>
          <p:cNvPr id="4" name="Shape 2"/>
          <p:cNvSpPr/>
          <p:nvPr/>
        </p:nvSpPr>
        <p:spPr>
          <a:xfrm>
            <a:off x="548640" y="1828800"/>
            <a:ext cx="5394960" cy="548640"/>
          </a:xfrm>
          <a:prstGeom prst="roundRect">
            <a:avLst>
              <a:gd name="adj" fmla="val 10000"/>
            </a:avLst>
          </a:prstGeom>
          <a:solidFill>
            <a:srgbClr val="EAF2FA"/>
          </a:solidFill>
          <a:ln/>
        </p:spPr>
      </p:sp>
      <p:sp>
        <p:nvSpPr>
          <p:cNvPr id="5" name="Text 3"/>
          <p:cNvSpPr txBox="1"/>
          <p:nvPr/>
        </p:nvSpPr>
        <p:spPr>
          <a:xfrm>
            <a:off x="731520" y="1856232"/>
            <a:ext cx="1737360" cy="493776"/>
          </a:xfrm>
          <a:prstGeom prst="rect">
            <a:avLst/>
          </a:prstGeom>
          <a:noFill/>
          <a:ln/>
        </p:spPr>
        <p:txBody>
          <a:bodyPr wrap="square" lIns="0" tIns="0" rIns="0" bIns="0" rtlCol="0" anchor="ctr"/>
          <a:lstStyle/>
          <a:p>
            <a:pPr indent="0" marL="0">
              <a:buNone/>
            </a:pPr>
            <a:r>
              <a:rPr lang="en-US" sz="1100" b="1" dirty="0">
                <a:solidFill>
                  <a:srgbClr val="1C3F66"/>
                </a:solidFill>
                <a:latin typeface="Calibri" pitchFamily="34" charset="0"/>
                <a:ea typeface="Calibri" pitchFamily="34" charset="-122"/>
                <a:cs typeface="Calibri" pitchFamily="34" charset="-120"/>
              </a:rPr>
              <a:t>Language &amp; ML</a:t>
            </a:r>
            <a:endParaRPr lang="en-US" sz="1100" dirty="0"/>
          </a:p>
        </p:txBody>
      </p:sp>
      <p:sp>
        <p:nvSpPr>
          <p:cNvPr id="6" name="Text 4"/>
          <p:cNvSpPr txBox="1"/>
          <p:nvPr/>
        </p:nvSpPr>
        <p:spPr>
          <a:xfrm>
            <a:off x="2514600" y="1856232"/>
            <a:ext cx="3337560" cy="493776"/>
          </a:xfrm>
          <a:prstGeom prst="rect">
            <a:avLst/>
          </a:prstGeom>
          <a:noFill/>
          <a:ln/>
        </p:spPr>
        <p:txBody>
          <a:bodyPr wrap="square" lIns="0" tIns="0" rIns="0" bIns="0" rtlCol="0" anchor="ctr"/>
          <a:lstStyle/>
          <a:p>
            <a:pPr indent="0" marL="0">
              <a:buNone/>
            </a:pPr>
            <a:r>
              <a:rPr lang="en-US" sz="1050" dirty="0">
                <a:solidFill>
                  <a:srgbClr val="14314F"/>
                </a:solidFill>
                <a:latin typeface="Calibri" pitchFamily="34" charset="0"/>
                <a:ea typeface="Calibri" pitchFamily="34" charset="-122"/>
                <a:cs typeface="Calibri" pitchFamily="34" charset="-120"/>
              </a:rPr>
              <a:t>Python, Scikit-learn, XGBoost, TensorFlow/Keras</a:t>
            </a:r>
            <a:endParaRPr lang="en-US" sz="1050" dirty="0"/>
          </a:p>
        </p:txBody>
      </p:sp>
      <p:sp>
        <p:nvSpPr>
          <p:cNvPr id="7" name="Shape 5"/>
          <p:cNvSpPr/>
          <p:nvPr/>
        </p:nvSpPr>
        <p:spPr>
          <a:xfrm>
            <a:off x="548640" y="2487168"/>
            <a:ext cx="5394960" cy="548640"/>
          </a:xfrm>
          <a:prstGeom prst="roundRect">
            <a:avLst>
              <a:gd name="adj" fmla="val 10000"/>
            </a:avLst>
          </a:prstGeom>
          <a:solidFill>
            <a:srgbClr val="EAF2FA"/>
          </a:solidFill>
          <a:ln/>
        </p:spPr>
      </p:sp>
      <p:sp>
        <p:nvSpPr>
          <p:cNvPr id="8" name="Text 6"/>
          <p:cNvSpPr txBox="1"/>
          <p:nvPr/>
        </p:nvSpPr>
        <p:spPr>
          <a:xfrm>
            <a:off x="731520" y="2514600"/>
            <a:ext cx="1737360" cy="493776"/>
          </a:xfrm>
          <a:prstGeom prst="rect">
            <a:avLst/>
          </a:prstGeom>
          <a:noFill/>
          <a:ln/>
        </p:spPr>
        <p:txBody>
          <a:bodyPr wrap="square" lIns="0" tIns="0" rIns="0" bIns="0" rtlCol="0" anchor="ctr"/>
          <a:lstStyle/>
          <a:p>
            <a:pPr indent="0" marL="0">
              <a:buNone/>
            </a:pPr>
            <a:r>
              <a:rPr lang="en-US" sz="1100" b="1" dirty="0">
                <a:solidFill>
                  <a:srgbClr val="1C3F66"/>
                </a:solidFill>
                <a:latin typeface="Calibri" pitchFamily="34" charset="0"/>
                <a:ea typeface="Calibri" pitchFamily="34" charset="-122"/>
                <a:cs typeface="Calibri" pitchFamily="34" charset="-120"/>
              </a:rPr>
              <a:t>Data Handling</a:t>
            </a:r>
            <a:endParaRPr lang="en-US" sz="1100" dirty="0"/>
          </a:p>
        </p:txBody>
      </p:sp>
      <p:sp>
        <p:nvSpPr>
          <p:cNvPr id="9" name="Text 7"/>
          <p:cNvSpPr txBox="1"/>
          <p:nvPr/>
        </p:nvSpPr>
        <p:spPr>
          <a:xfrm>
            <a:off x="2514600" y="2514600"/>
            <a:ext cx="3337560" cy="493776"/>
          </a:xfrm>
          <a:prstGeom prst="rect">
            <a:avLst/>
          </a:prstGeom>
          <a:noFill/>
          <a:ln/>
        </p:spPr>
        <p:txBody>
          <a:bodyPr wrap="square" lIns="0" tIns="0" rIns="0" bIns="0" rtlCol="0" anchor="ctr"/>
          <a:lstStyle/>
          <a:p>
            <a:pPr indent="0" marL="0">
              <a:buNone/>
            </a:pPr>
            <a:r>
              <a:rPr lang="en-US" sz="1050" dirty="0">
                <a:solidFill>
                  <a:srgbClr val="14314F"/>
                </a:solidFill>
                <a:latin typeface="Calibri" pitchFamily="34" charset="0"/>
                <a:ea typeface="Calibri" pitchFamily="34" charset="-122"/>
                <a:cs typeface="Calibri" pitchFamily="34" charset="-120"/>
              </a:rPr>
              <a:t>Pandas, NumPy for preprocessing &amp; feature extraction</a:t>
            </a:r>
            <a:endParaRPr lang="en-US" sz="1050" dirty="0"/>
          </a:p>
        </p:txBody>
      </p:sp>
      <p:sp>
        <p:nvSpPr>
          <p:cNvPr id="10" name="Shape 8"/>
          <p:cNvSpPr/>
          <p:nvPr/>
        </p:nvSpPr>
        <p:spPr>
          <a:xfrm>
            <a:off x="548640" y="3145536"/>
            <a:ext cx="5394960" cy="548640"/>
          </a:xfrm>
          <a:prstGeom prst="roundRect">
            <a:avLst>
              <a:gd name="adj" fmla="val 10000"/>
            </a:avLst>
          </a:prstGeom>
          <a:solidFill>
            <a:srgbClr val="EAF2FA"/>
          </a:solidFill>
          <a:ln/>
        </p:spPr>
      </p:sp>
      <p:sp>
        <p:nvSpPr>
          <p:cNvPr id="11" name="Text 9"/>
          <p:cNvSpPr txBox="1"/>
          <p:nvPr/>
        </p:nvSpPr>
        <p:spPr>
          <a:xfrm>
            <a:off x="731520" y="3172968"/>
            <a:ext cx="1737360" cy="493776"/>
          </a:xfrm>
          <a:prstGeom prst="rect">
            <a:avLst/>
          </a:prstGeom>
          <a:noFill/>
          <a:ln/>
        </p:spPr>
        <p:txBody>
          <a:bodyPr wrap="square" lIns="0" tIns="0" rIns="0" bIns="0" rtlCol="0" anchor="ctr"/>
          <a:lstStyle/>
          <a:p>
            <a:pPr indent="0" marL="0">
              <a:buNone/>
            </a:pPr>
            <a:r>
              <a:rPr lang="en-US" sz="1100" b="1" dirty="0">
                <a:solidFill>
                  <a:srgbClr val="1C3F66"/>
                </a:solidFill>
                <a:latin typeface="Calibri" pitchFamily="34" charset="0"/>
                <a:ea typeface="Calibri" pitchFamily="34" charset="-122"/>
                <a:cs typeface="Calibri" pitchFamily="34" charset="-120"/>
              </a:rPr>
              <a:t>Backend / API</a:t>
            </a:r>
            <a:endParaRPr lang="en-US" sz="1100" dirty="0"/>
          </a:p>
        </p:txBody>
      </p:sp>
      <p:sp>
        <p:nvSpPr>
          <p:cNvPr id="12" name="Text 10"/>
          <p:cNvSpPr txBox="1"/>
          <p:nvPr/>
        </p:nvSpPr>
        <p:spPr>
          <a:xfrm>
            <a:off x="2514600" y="3172968"/>
            <a:ext cx="3337560" cy="493776"/>
          </a:xfrm>
          <a:prstGeom prst="rect">
            <a:avLst/>
          </a:prstGeom>
          <a:noFill/>
          <a:ln/>
        </p:spPr>
        <p:txBody>
          <a:bodyPr wrap="square" lIns="0" tIns="0" rIns="0" bIns="0" rtlCol="0" anchor="ctr"/>
          <a:lstStyle/>
          <a:p>
            <a:pPr indent="0" marL="0">
              <a:buNone/>
            </a:pPr>
            <a:r>
              <a:rPr lang="en-US" sz="1050" dirty="0">
                <a:solidFill>
                  <a:srgbClr val="14314F"/>
                </a:solidFill>
                <a:latin typeface="Calibri" pitchFamily="34" charset="0"/>
                <a:ea typeface="Calibri" pitchFamily="34" charset="-122"/>
                <a:cs typeface="Calibri" pitchFamily="34" charset="-120"/>
              </a:rPr>
              <a:t>Flask or Django REST API serving the trained model</a:t>
            </a:r>
            <a:endParaRPr lang="en-US" sz="1050" dirty="0"/>
          </a:p>
        </p:txBody>
      </p:sp>
      <p:sp>
        <p:nvSpPr>
          <p:cNvPr id="13" name="Shape 11"/>
          <p:cNvSpPr/>
          <p:nvPr/>
        </p:nvSpPr>
        <p:spPr>
          <a:xfrm>
            <a:off x="548640" y="3803904"/>
            <a:ext cx="5394960" cy="548640"/>
          </a:xfrm>
          <a:prstGeom prst="roundRect">
            <a:avLst>
              <a:gd name="adj" fmla="val 10000"/>
            </a:avLst>
          </a:prstGeom>
          <a:solidFill>
            <a:srgbClr val="EAF2FA"/>
          </a:solidFill>
          <a:ln/>
        </p:spPr>
      </p:sp>
      <p:sp>
        <p:nvSpPr>
          <p:cNvPr id="14" name="Text 12"/>
          <p:cNvSpPr txBox="1"/>
          <p:nvPr/>
        </p:nvSpPr>
        <p:spPr>
          <a:xfrm>
            <a:off x="731520" y="3831336"/>
            <a:ext cx="1737360" cy="493776"/>
          </a:xfrm>
          <a:prstGeom prst="rect">
            <a:avLst/>
          </a:prstGeom>
          <a:noFill/>
          <a:ln/>
        </p:spPr>
        <p:txBody>
          <a:bodyPr wrap="square" lIns="0" tIns="0" rIns="0" bIns="0" rtlCol="0" anchor="ctr"/>
          <a:lstStyle/>
          <a:p>
            <a:pPr indent="0" marL="0">
              <a:buNone/>
            </a:pPr>
            <a:r>
              <a:rPr lang="en-US" sz="1100" b="1" dirty="0">
                <a:solidFill>
                  <a:srgbClr val="1C3F66"/>
                </a:solidFill>
                <a:latin typeface="Calibri" pitchFamily="34" charset="0"/>
                <a:ea typeface="Calibri" pitchFamily="34" charset="-122"/>
                <a:cs typeface="Calibri" pitchFamily="34" charset="-120"/>
              </a:rPr>
              <a:t>Front-End / Delivery</a:t>
            </a:r>
            <a:endParaRPr lang="en-US" sz="1100" dirty="0"/>
          </a:p>
        </p:txBody>
      </p:sp>
      <p:sp>
        <p:nvSpPr>
          <p:cNvPr id="15" name="Text 13"/>
          <p:cNvSpPr txBox="1"/>
          <p:nvPr/>
        </p:nvSpPr>
        <p:spPr>
          <a:xfrm>
            <a:off x="2514600" y="3831336"/>
            <a:ext cx="3337560" cy="493776"/>
          </a:xfrm>
          <a:prstGeom prst="rect">
            <a:avLst/>
          </a:prstGeom>
          <a:noFill/>
          <a:ln/>
        </p:spPr>
        <p:txBody>
          <a:bodyPr wrap="square" lIns="0" tIns="0" rIns="0" bIns="0" rtlCol="0" anchor="ctr"/>
          <a:lstStyle/>
          <a:p>
            <a:pPr indent="0" marL="0">
              <a:buNone/>
            </a:pPr>
            <a:r>
              <a:rPr lang="en-US" sz="1050" dirty="0">
                <a:solidFill>
                  <a:srgbClr val="14314F"/>
                </a:solidFill>
                <a:latin typeface="Calibri" pitchFamily="34" charset="0"/>
                <a:ea typeface="Calibri" pitchFamily="34" charset="-122"/>
                <a:cs typeface="Calibri" pitchFamily="34" charset="-120"/>
              </a:rPr>
              <a:t>Web dashboard and a lightweight Chrome/Edge browser extension</a:t>
            </a:r>
            <a:endParaRPr lang="en-US" sz="1050" dirty="0"/>
          </a:p>
        </p:txBody>
      </p:sp>
      <p:sp>
        <p:nvSpPr>
          <p:cNvPr id="16" name="Text 14"/>
          <p:cNvSpPr txBox="1"/>
          <p:nvPr/>
        </p:nvSpPr>
        <p:spPr>
          <a:xfrm>
            <a:off x="6309360" y="1371600"/>
            <a:ext cx="5486400" cy="36576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Deployment Pipeline</a:t>
            </a:r>
            <a:endParaRPr lang="en-US" sz="1500" dirty="0"/>
          </a:p>
        </p:txBody>
      </p:sp>
      <p:sp>
        <p:nvSpPr>
          <p:cNvPr id="17" name="Shape 15"/>
          <p:cNvSpPr/>
          <p:nvPr/>
        </p:nvSpPr>
        <p:spPr>
          <a:xfrm>
            <a:off x="6309360" y="1783080"/>
            <a:ext cx="347472" cy="347472"/>
          </a:xfrm>
          <a:prstGeom prst="ellipse">
            <a:avLst/>
          </a:prstGeom>
          <a:solidFill>
            <a:srgbClr val="00B4D8"/>
          </a:solidFill>
          <a:ln/>
        </p:spPr>
      </p:sp>
      <p:sp>
        <p:nvSpPr>
          <p:cNvPr id="18" name="Text 16"/>
          <p:cNvSpPr txBox="1"/>
          <p:nvPr/>
        </p:nvSpPr>
        <p:spPr>
          <a:xfrm>
            <a:off x="6309360" y="178308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9" name="Text 17"/>
          <p:cNvSpPr txBox="1"/>
          <p:nvPr/>
        </p:nvSpPr>
        <p:spPr>
          <a:xfrm>
            <a:off x="6766560" y="1783080"/>
            <a:ext cx="4892040" cy="347472"/>
          </a:xfrm>
          <a:prstGeom prst="rect">
            <a:avLst/>
          </a:prstGeom>
          <a:noFill/>
          <a:ln/>
        </p:spPr>
        <p:txBody>
          <a:bodyPr wrap="square" lIns="0" tIns="0" rIns="0" bIns="0" rtlCol="0" anchor="ctr"/>
          <a:lstStyle/>
          <a:p>
            <a:pPr indent="0" marL="0">
              <a:buNone/>
            </a:pPr>
            <a:r>
              <a:rPr lang="en-US" sz="1050" dirty="0">
                <a:solidFill>
                  <a:srgbClr val="14314F"/>
                </a:solidFill>
                <a:latin typeface="Calibri" pitchFamily="34" charset="0"/>
                <a:ea typeface="Calibri" pitchFamily="34" charset="-122"/>
                <a:cs typeface="Calibri" pitchFamily="34" charset="-120"/>
              </a:rPr>
              <a:t>Collect &amp; label dataset</a:t>
            </a:r>
            <a:endParaRPr lang="en-US" sz="1050" dirty="0"/>
          </a:p>
        </p:txBody>
      </p:sp>
      <p:sp>
        <p:nvSpPr>
          <p:cNvPr id="20" name="Shape 18"/>
          <p:cNvSpPr/>
          <p:nvPr/>
        </p:nvSpPr>
        <p:spPr>
          <a:xfrm>
            <a:off x="6309360" y="2295144"/>
            <a:ext cx="347472" cy="347472"/>
          </a:xfrm>
          <a:prstGeom prst="ellipse">
            <a:avLst/>
          </a:prstGeom>
          <a:solidFill>
            <a:srgbClr val="00B4D8"/>
          </a:solidFill>
          <a:ln/>
        </p:spPr>
      </p:sp>
      <p:sp>
        <p:nvSpPr>
          <p:cNvPr id="21" name="Text 19"/>
          <p:cNvSpPr txBox="1"/>
          <p:nvPr/>
        </p:nvSpPr>
        <p:spPr>
          <a:xfrm>
            <a:off x="6309360" y="22951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2" name="Text 20"/>
          <p:cNvSpPr txBox="1"/>
          <p:nvPr/>
        </p:nvSpPr>
        <p:spPr>
          <a:xfrm>
            <a:off x="6766560" y="2295144"/>
            <a:ext cx="4892040" cy="347472"/>
          </a:xfrm>
          <a:prstGeom prst="rect">
            <a:avLst/>
          </a:prstGeom>
          <a:noFill/>
          <a:ln/>
        </p:spPr>
        <p:txBody>
          <a:bodyPr wrap="square" lIns="0" tIns="0" rIns="0" bIns="0" rtlCol="0" anchor="ctr"/>
          <a:lstStyle/>
          <a:p>
            <a:pPr indent="0" marL="0">
              <a:buNone/>
            </a:pPr>
            <a:r>
              <a:rPr lang="en-US" sz="1050" dirty="0">
                <a:solidFill>
                  <a:srgbClr val="14314F"/>
                </a:solidFill>
                <a:latin typeface="Calibri" pitchFamily="34" charset="0"/>
                <a:ea typeface="Calibri" pitchFamily="34" charset="-122"/>
                <a:cs typeface="Calibri" pitchFamily="34" charset="-120"/>
              </a:rPr>
              <a:t>Extract features &amp; preprocess</a:t>
            </a:r>
            <a:endParaRPr lang="en-US" sz="1050" dirty="0"/>
          </a:p>
        </p:txBody>
      </p:sp>
      <p:sp>
        <p:nvSpPr>
          <p:cNvPr id="23" name="Shape 21"/>
          <p:cNvSpPr/>
          <p:nvPr/>
        </p:nvSpPr>
        <p:spPr>
          <a:xfrm>
            <a:off x="6309360" y="2807208"/>
            <a:ext cx="347472" cy="347472"/>
          </a:xfrm>
          <a:prstGeom prst="ellipse">
            <a:avLst/>
          </a:prstGeom>
          <a:solidFill>
            <a:srgbClr val="00B4D8"/>
          </a:solidFill>
          <a:ln/>
        </p:spPr>
      </p:sp>
      <p:sp>
        <p:nvSpPr>
          <p:cNvPr id="24" name="Text 22"/>
          <p:cNvSpPr txBox="1"/>
          <p:nvPr/>
        </p:nvSpPr>
        <p:spPr>
          <a:xfrm>
            <a:off x="6309360" y="28072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5" name="Text 23"/>
          <p:cNvSpPr txBox="1"/>
          <p:nvPr/>
        </p:nvSpPr>
        <p:spPr>
          <a:xfrm>
            <a:off x="6766560" y="2807208"/>
            <a:ext cx="4892040" cy="347472"/>
          </a:xfrm>
          <a:prstGeom prst="rect">
            <a:avLst/>
          </a:prstGeom>
          <a:noFill/>
          <a:ln/>
        </p:spPr>
        <p:txBody>
          <a:bodyPr wrap="square" lIns="0" tIns="0" rIns="0" bIns="0" rtlCol="0" anchor="ctr"/>
          <a:lstStyle/>
          <a:p>
            <a:pPr indent="0" marL="0">
              <a:buNone/>
            </a:pPr>
            <a:r>
              <a:rPr lang="en-US" sz="1050" dirty="0">
                <a:solidFill>
                  <a:srgbClr val="14314F"/>
                </a:solidFill>
                <a:latin typeface="Calibri" pitchFamily="34" charset="0"/>
                <a:ea typeface="Calibri" pitchFamily="34" charset="-122"/>
                <a:cs typeface="Calibri" pitchFamily="34" charset="-120"/>
              </a:rPr>
              <a:t>Train &amp; validate candidate models</a:t>
            </a:r>
            <a:endParaRPr lang="en-US" sz="1050" dirty="0"/>
          </a:p>
        </p:txBody>
      </p:sp>
      <p:sp>
        <p:nvSpPr>
          <p:cNvPr id="26" name="Shape 24"/>
          <p:cNvSpPr/>
          <p:nvPr/>
        </p:nvSpPr>
        <p:spPr>
          <a:xfrm>
            <a:off x="6309360" y="3319272"/>
            <a:ext cx="347472" cy="347472"/>
          </a:xfrm>
          <a:prstGeom prst="ellipse">
            <a:avLst/>
          </a:prstGeom>
          <a:solidFill>
            <a:srgbClr val="00B4D8"/>
          </a:solidFill>
          <a:ln/>
        </p:spPr>
      </p:sp>
      <p:sp>
        <p:nvSpPr>
          <p:cNvPr id="27" name="Text 25"/>
          <p:cNvSpPr txBox="1"/>
          <p:nvPr/>
        </p:nvSpPr>
        <p:spPr>
          <a:xfrm>
            <a:off x="6309360" y="331927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8" name="Text 26"/>
          <p:cNvSpPr txBox="1"/>
          <p:nvPr/>
        </p:nvSpPr>
        <p:spPr>
          <a:xfrm>
            <a:off x="6766560" y="3319272"/>
            <a:ext cx="4892040" cy="347472"/>
          </a:xfrm>
          <a:prstGeom prst="rect">
            <a:avLst/>
          </a:prstGeom>
          <a:noFill/>
          <a:ln/>
        </p:spPr>
        <p:txBody>
          <a:bodyPr wrap="square" lIns="0" tIns="0" rIns="0" bIns="0" rtlCol="0" anchor="ctr"/>
          <a:lstStyle/>
          <a:p>
            <a:pPr indent="0" marL="0">
              <a:buNone/>
            </a:pPr>
            <a:r>
              <a:rPr lang="en-US" sz="1050" dirty="0">
                <a:solidFill>
                  <a:srgbClr val="14314F"/>
                </a:solidFill>
                <a:latin typeface="Calibri" pitchFamily="34" charset="0"/>
                <a:ea typeface="Calibri" pitchFamily="34" charset="-122"/>
                <a:cs typeface="Calibri" pitchFamily="34" charset="-120"/>
              </a:rPr>
              <a:t>Select best model (accuracy vs. speed)</a:t>
            </a:r>
            <a:endParaRPr lang="en-US" sz="1050" dirty="0"/>
          </a:p>
        </p:txBody>
      </p:sp>
      <p:sp>
        <p:nvSpPr>
          <p:cNvPr id="29" name="Shape 27"/>
          <p:cNvSpPr/>
          <p:nvPr/>
        </p:nvSpPr>
        <p:spPr>
          <a:xfrm>
            <a:off x="6309360" y="3831336"/>
            <a:ext cx="347472" cy="347472"/>
          </a:xfrm>
          <a:prstGeom prst="ellipse">
            <a:avLst/>
          </a:prstGeom>
          <a:solidFill>
            <a:srgbClr val="00B4D8"/>
          </a:solidFill>
          <a:ln/>
        </p:spPr>
      </p:sp>
      <p:sp>
        <p:nvSpPr>
          <p:cNvPr id="30" name="Text 28"/>
          <p:cNvSpPr txBox="1"/>
          <p:nvPr/>
        </p:nvSpPr>
        <p:spPr>
          <a:xfrm>
            <a:off x="6309360" y="38313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31" name="Text 29"/>
          <p:cNvSpPr txBox="1"/>
          <p:nvPr/>
        </p:nvSpPr>
        <p:spPr>
          <a:xfrm>
            <a:off x="6766560" y="3831336"/>
            <a:ext cx="4892040" cy="347472"/>
          </a:xfrm>
          <a:prstGeom prst="rect">
            <a:avLst/>
          </a:prstGeom>
          <a:noFill/>
          <a:ln/>
        </p:spPr>
        <p:txBody>
          <a:bodyPr wrap="square" lIns="0" tIns="0" rIns="0" bIns="0" rtlCol="0" anchor="ctr"/>
          <a:lstStyle/>
          <a:p>
            <a:pPr indent="0" marL="0">
              <a:buNone/>
            </a:pPr>
            <a:r>
              <a:rPr lang="en-US" sz="1050" dirty="0">
                <a:solidFill>
                  <a:srgbClr val="14314F"/>
                </a:solidFill>
                <a:latin typeface="Calibri" pitchFamily="34" charset="0"/>
                <a:ea typeface="Calibri" pitchFamily="34" charset="-122"/>
                <a:cs typeface="Calibri" pitchFamily="34" charset="-120"/>
              </a:rPr>
              <a:t>Deploy as API + browser extension</a:t>
            </a:r>
            <a:endParaRPr lang="en-US" sz="1050" dirty="0"/>
          </a:p>
        </p:txBody>
      </p:sp>
      <p:sp>
        <p:nvSpPr>
          <p:cNvPr id="32" name="Shape 30"/>
          <p:cNvSpPr/>
          <p:nvPr/>
        </p:nvSpPr>
        <p:spPr>
          <a:xfrm>
            <a:off x="6309360" y="4343400"/>
            <a:ext cx="347472" cy="347472"/>
          </a:xfrm>
          <a:prstGeom prst="ellipse">
            <a:avLst/>
          </a:prstGeom>
          <a:solidFill>
            <a:srgbClr val="00B4D8"/>
          </a:solidFill>
          <a:ln/>
        </p:spPr>
      </p:sp>
      <p:sp>
        <p:nvSpPr>
          <p:cNvPr id="33" name="Text 31"/>
          <p:cNvSpPr txBox="1"/>
          <p:nvPr/>
        </p:nvSpPr>
        <p:spPr>
          <a:xfrm>
            <a:off x="6309360" y="43434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34" name="Text 32"/>
          <p:cNvSpPr txBox="1"/>
          <p:nvPr/>
        </p:nvSpPr>
        <p:spPr>
          <a:xfrm>
            <a:off x="6766560" y="4343400"/>
            <a:ext cx="4892040" cy="347472"/>
          </a:xfrm>
          <a:prstGeom prst="rect">
            <a:avLst/>
          </a:prstGeom>
          <a:noFill/>
          <a:ln/>
        </p:spPr>
        <p:txBody>
          <a:bodyPr wrap="square" lIns="0" tIns="0" rIns="0" bIns="0" rtlCol="0" anchor="ctr"/>
          <a:lstStyle/>
          <a:p>
            <a:pPr indent="0" marL="0">
              <a:buNone/>
            </a:pPr>
            <a:r>
              <a:rPr lang="en-US" sz="1050" dirty="0">
                <a:solidFill>
                  <a:srgbClr val="14314F"/>
                </a:solidFill>
                <a:latin typeface="Calibri" pitchFamily="34" charset="0"/>
                <a:ea typeface="Calibri" pitchFamily="34" charset="-122"/>
                <a:cs typeface="Calibri" pitchFamily="34" charset="-120"/>
              </a:rPr>
              <a:t>Monitor &amp; periodically retrain on new phishing data</a:t>
            </a:r>
            <a:endParaRPr lang="en-US" sz="1050" dirty="0"/>
          </a:p>
        </p:txBody>
      </p:sp>
      <p:sp>
        <p:nvSpPr>
          <p:cNvPr id="35" name="Shape 33"/>
          <p:cNvSpPr/>
          <p:nvPr/>
        </p:nvSpPr>
        <p:spPr>
          <a:xfrm>
            <a:off x="548640" y="4800600"/>
            <a:ext cx="11064240" cy="1325880"/>
          </a:xfrm>
          <a:prstGeom prst="roundRect">
            <a:avLst>
              <a:gd name="adj" fmla="val 5517"/>
            </a:avLst>
          </a:prstGeom>
          <a:solidFill>
            <a:srgbClr val="0B1F3A"/>
          </a:solidFill>
          <a:ln/>
        </p:spPr>
      </p:sp>
      <p:sp>
        <p:nvSpPr>
          <p:cNvPr id="36" name="Text 34"/>
          <p:cNvSpPr txBox="1"/>
          <p:nvPr/>
        </p:nvSpPr>
        <p:spPr>
          <a:xfrm>
            <a:off x="822960" y="4956048"/>
            <a:ext cx="10515600" cy="320040"/>
          </a:xfrm>
          <a:prstGeom prst="rect">
            <a:avLst/>
          </a:prstGeom>
          <a:noFill/>
          <a:ln/>
        </p:spPr>
        <p:txBody>
          <a:bodyPr wrap="square" lIns="0" tIns="0" rIns="0" bIns="0" rtlCol="0" anchor="ctr"/>
          <a:lstStyle/>
          <a:p>
            <a:pPr indent="0" marL="0">
              <a:buNone/>
            </a:pPr>
            <a:r>
              <a:rPr lang="en-US" sz="1300" b="1" dirty="0">
                <a:solidFill>
                  <a:srgbClr val="00B4D8"/>
                </a:solidFill>
                <a:latin typeface="Cambria" pitchFamily="34" charset="0"/>
                <a:ea typeface="Cambria" pitchFamily="34" charset="-122"/>
                <a:cs typeface="Cambria" pitchFamily="34" charset="-120"/>
              </a:rPr>
              <a:t>Real-Time Use Case</a:t>
            </a:r>
            <a:endParaRPr lang="en-US" sz="1300" dirty="0"/>
          </a:p>
        </p:txBody>
      </p:sp>
      <p:sp>
        <p:nvSpPr>
          <p:cNvPr id="37" name="Text 35"/>
          <p:cNvSpPr txBox="1"/>
          <p:nvPr/>
        </p:nvSpPr>
        <p:spPr>
          <a:xfrm>
            <a:off x="822960" y="5285232"/>
            <a:ext cx="10515600" cy="73152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When a user visits or clicks a link, the browser extension sends the URL to the detection API in real time. The model classifies it in milliseconds and displays an inline warning before the page loads if it is flagged as phishing.</a:t>
            </a:r>
            <a:endParaRPr lang="en-US" sz="1100" dirty="0"/>
          </a:p>
        </p:txBody>
      </p:sp>
      <p:sp>
        <p:nvSpPr>
          <p:cNvPr id="38" name="Text 36"/>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A9BB0"/>
                </a:solidFill>
                <a:latin typeface="Calibri" pitchFamily="34" charset="0"/>
                <a:ea typeface="Calibri" pitchFamily="34" charset="-122"/>
                <a:cs typeface="Calibri" pitchFamily="34" charset="-120"/>
              </a:rPr>
              <a:t>Phishing Website Detection Using Machine Learning</a:t>
            </a:r>
            <a:endParaRPr lang="en-US" sz="900" dirty="0"/>
          </a:p>
        </p:txBody>
      </p:sp>
      <p:sp>
        <p:nvSpPr>
          <p:cNvPr id="39" name="Text 37"/>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502920"/>
            <a:ext cx="10515600" cy="548640"/>
          </a:xfrm>
          <a:prstGeom prst="rect">
            <a:avLst/>
          </a:prstGeom>
          <a:noFill/>
          <a:ln/>
        </p:spPr>
        <p:txBody>
          <a:bodyPr wrap="square" rtlCol="0"/>
          <a:lstStyle/>
          <a:p>
            <a:pPr algn="l" indent="0" marL="0">
              <a:buNone/>
            </a:pPr>
            <a:r>
              <a:rPr lang="en-US" sz="3000" b="1" dirty="0">
                <a:solidFill>
                  <a:srgbClr val="0B1F3A"/>
                </a:solidFill>
                <a:latin typeface="Cambria" pitchFamily="34" charset="0"/>
                <a:ea typeface="Cambria" pitchFamily="34" charset="-122"/>
                <a:cs typeface="Cambria" pitchFamily="34" charset="-120"/>
              </a:rPr>
              <a:t>SYSTEM MODULES</a:t>
            </a:r>
            <a:endParaRPr lang="en-US" sz="3000" dirty="0"/>
          </a:p>
        </p:txBody>
      </p:sp>
      <p:sp>
        <p:nvSpPr>
          <p:cNvPr id="3" name="Shape 1"/>
          <p:cNvSpPr/>
          <p:nvPr/>
        </p:nvSpPr>
        <p:spPr>
          <a:xfrm>
            <a:off x="548640" y="1600200"/>
            <a:ext cx="2057400" cy="4206240"/>
          </a:xfrm>
          <a:prstGeom prst="roundRect">
            <a:avLst>
              <a:gd name="adj" fmla="val 4000"/>
            </a:avLst>
          </a:prstGeom>
          <a:solidFill>
            <a:srgbClr val="0B1F3A"/>
          </a:solidFill>
          <a:ln/>
        </p:spPr>
      </p:sp>
      <p:sp>
        <p:nvSpPr>
          <p:cNvPr id="4" name="Shape 2"/>
          <p:cNvSpPr/>
          <p:nvPr/>
        </p:nvSpPr>
        <p:spPr>
          <a:xfrm>
            <a:off x="1257300" y="1920240"/>
            <a:ext cx="640080" cy="640080"/>
          </a:xfrm>
          <a:prstGeom prst="ellipse">
            <a:avLst/>
          </a:prstGeom>
          <a:solidFill>
            <a:srgbClr val="00B4D8"/>
          </a:solidFill>
          <a:ln/>
        </p:spPr>
      </p:sp>
      <p:sp>
        <p:nvSpPr>
          <p:cNvPr id="5" name="Text 3"/>
          <p:cNvSpPr txBox="1"/>
          <p:nvPr/>
        </p:nvSpPr>
        <p:spPr>
          <a:xfrm>
            <a:off x="1257300" y="1920240"/>
            <a:ext cx="640080" cy="640080"/>
          </a:xfrm>
          <a:prstGeom prst="rect">
            <a:avLst/>
          </a:prstGeom>
          <a:noFill/>
          <a:ln/>
        </p:spPr>
        <p:txBody>
          <a:bodyPr wrap="square" lIns="0" tIns="0" rIns="0" bIns="0" rtlCol="0" anchor="ctr"/>
          <a:lstStyle/>
          <a:p>
            <a:pPr algn="ctr" indent="0" marL="0">
              <a:buNone/>
            </a:pPr>
            <a:r>
              <a:rPr lang="en-US" sz="1600" b="1" dirty="0">
                <a:solidFill>
                  <a:srgbClr val="0B1F3A"/>
                </a:solidFill>
                <a:latin typeface="Cambria" pitchFamily="34" charset="0"/>
                <a:ea typeface="Cambria" pitchFamily="34" charset="-122"/>
                <a:cs typeface="Cambria" pitchFamily="34" charset="-120"/>
              </a:rPr>
              <a:t>M1</a:t>
            </a:r>
            <a:endParaRPr lang="en-US" sz="1600" dirty="0"/>
          </a:p>
        </p:txBody>
      </p:sp>
      <p:sp>
        <p:nvSpPr>
          <p:cNvPr id="6" name="Text 4"/>
          <p:cNvSpPr txBox="1"/>
          <p:nvPr/>
        </p:nvSpPr>
        <p:spPr>
          <a:xfrm>
            <a:off x="713232" y="2788920"/>
            <a:ext cx="1728216" cy="868680"/>
          </a:xfrm>
          <a:prstGeom prst="rect">
            <a:avLst/>
          </a:prstGeom>
          <a:noFill/>
          <a:ln/>
        </p:spPr>
        <p:txBody>
          <a:bodyPr wrap="square" lIns="0" tIns="0" rIns="0" bIns="0" rtlCol="0" anchor="t"/>
          <a:lstStyle/>
          <a:p>
            <a:pPr algn="ctr" indent="0" marL="0">
              <a:buNone/>
            </a:pPr>
            <a:r>
              <a:rPr lang="en-US" sz="1250" b="1" dirty="0">
                <a:solidFill>
                  <a:srgbClr val="FFFFFF"/>
                </a:solidFill>
                <a:latin typeface="Cambria" pitchFamily="34" charset="0"/>
                <a:ea typeface="Cambria" pitchFamily="34" charset="-122"/>
                <a:cs typeface="Cambria" pitchFamily="34" charset="-120"/>
              </a:rPr>
              <a:t>Data Collection &amp; Preprocessing</a:t>
            </a:r>
            <a:endParaRPr lang="en-US" sz="1250" dirty="0"/>
          </a:p>
        </p:txBody>
      </p:sp>
      <p:sp>
        <p:nvSpPr>
          <p:cNvPr id="7" name="Text 5"/>
          <p:cNvSpPr txBox="1"/>
          <p:nvPr/>
        </p:nvSpPr>
        <p:spPr>
          <a:xfrm>
            <a:off x="713232" y="3703320"/>
            <a:ext cx="1728216" cy="1920240"/>
          </a:xfrm>
          <a:prstGeom prst="rect">
            <a:avLst/>
          </a:prstGeom>
          <a:noFill/>
          <a:ln/>
        </p:spPr>
        <p:txBody>
          <a:bodyPr wrap="square" lIns="0" tIns="0" rIns="0" bIns="0" rtlCol="0" anchor="t"/>
          <a:lstStyle/>
          <a:p>
            <a:pPr algn="l" indent="0" marL="0">
              <a:buNone/>
            </a:pPr>
            <a:r>
              <a:rPr lang="en-US" sz="950" dirty="0">
                <a:solidFill>
                  <a:srgbClr val="CADCFC"/>
                </a:solidFill>
                <a:latin typeface="Calibri" pitchFamily="34" charset="0"/>
                <a:ea typeface="Calibri" pitchFamily="34" charset="-122"/>
                <a:cs typeface="Calibri" pitchFamily="34" charset="-120"/>
              </a:rPr>
              <a:t>Gathers legitimate and phishing URLs from public repositories, cleans the data, encodes categorical fields, and normalizes numeric features.</a:t>
            </a:r>
            <a:endParaRPr lang="en-US" sz="950" dirty="0"/>
          </a:p>
        </p:txBody>
      </p:sp>
      <p:sp>
        <p:nvSpPr>
          <p:cNvPr id="8" name="Shape 6"/>
          <p:cNvSpPr/>
          <p:nvPr/>
        </p:nvSpPr>
        <p:spPr>
          <a:xfrm>
            <a:off x="2788920" y="1600200"/>
            <a:ext cx="2057400" cy="4206240"/>
          </a:xfrm>
          <a:prstGeom prst="roundRect">
            <a:avLst>
              <a:gd name="adj" fmla="val 4000"/>
            </a:avLst>
          </a:prstGeom>
          <a:solidFill>
            <a:srgbClr val="1C3F66"/>
          </a:solidFill>
          <a:ln/>
        </p:spPr>
      </p:sp>
      <p:sp>
        <p:nvSpPr>
          <p:cNvPr id="9" name="Shape 7"/>
          <p:cNvSpPr/>
          <p:nvPr/>
        </p:nvSpPr>
        <p:spPr>
          <a:xfrm>
            <a:off x="3497580" y="1920240"/>
            <a:ext cx="640080" cy="640080"/>
          </a:xfrm>
          <a:prstGeom prst="ellipse">
            <a:avLst/>
          </a:prstGeom>
          <a:solidFill>
            <a:srgbClr val="00B4D8"/>
          </a:solidFill>
          <a:ln/>
        </p:spPr>
      </p:sp>
      <p:sp>
        <p:nvSpPr>
          <p:cNvPr id="10" name="Text 8"/>
          <p:cNvSpPr txBox="1"/>
          <p:nvPr/>
        </p:nvSpPr>
        <p:spPr>
          <a:xfrm>
            <a:off x="3497580" y="1920240"/>
            <a:ext cx="640080" cy="640080"/>
          </a:xfrm>
          <a:prstGeom prst="rect">
            <a:avLst/>
          </a:prstGeom>
          <a:noFill/>
          <a:ln/>
        </p:spPr>
        <p:txBody>
          <a:bodyPr wrap="square" lIns="0" tIns="0" rIns="0" bIns="0" rtlCol="0" anchor="ctr"/>
          <a:lstStyle/>
          <a:p>
            <a:pPr algn="ctr" indent="0" marL="0">
              <a:buNone/>
            </a:pPr>
            <a:r>
              <a:rPr lang="en-US" sz="1600" b="1" dirty="0">
                <a:solidFill>
                  <a:srgbClr val="0B1F3A"/>
                </a:solidFill>
                <a:latin typeface="Cambria" pitchFamily="34" charset="0"/>
                <a:ea typeface="Cambria" pitchFamily="34" charset="-122"/>
                <a:cs typeface="Cambria" pitchFamily="34" charset="-120"/>
              </a:rPr>
              <a:t>M2</a:t>
            </a:r>
            <a:endParaRPr lang="en-US" sz="1600" dirty="0"/>
          </a:p>
        </p:txBody>
      </p:sp>
      <p:sp>
        <p:nvSpPr>
          <p:cNvPr id="11" name="Text 9"/>
          <p:cNvSpPr txBox="1"/>
          <p:nvPr/>
        </p:nvSpPr>
        <p:spPr>
          <a:xfrm>
            <a:off x="2953512" y="2788920"/>
            <a:ext cx="1728216" cy="868680"/>
          </a:xfrm>
          <a:prstGeom prst="rect">
            <a:avLst/>
          </a:prstGeom>
          <a:noFill/>
          <a:ln/>
        </p:spPr>
        <p:txBody>
          <a:bodyPr wrap="square" lIns="0" tIns="0" rIns="0" bIns="0" rtlCol="0" anchor="t"/>
          <a:lstStyle/>
          <a:p>
            <a:pPr algn="ctr" indent="0" marL="0">
              <a:buNone/>
            </a:pPr>
            <a:r>
              <a:rPr lang="en-US" sz="1250" b="1" dirty="0">
                <a:solidFill>
                  <a:srgbClr val="FFFFFF"/>
                </a:solidFill>
                <a:latin typeface="Cambria" pitchFamily="34" charset="0"/>
                <a:ea typeface="Cambria" pitchFamily="34" charset="-122"/>
                <a:cs typeface="Cambria" pitchFamily="34" charset="-120"/>
              </a:rPr>
              <a:t>Feature Extraction</a:t>
            </a:r>
            <a:endParaRPr lang="en-US" sz="1250" dirty="0"/>
          </a:p>
        </p:txBody>
      </p:sp>
      <p:sp>
        <p:nvSpPr>
          <p:cNvPr id="12" name="Text 10"/>
          <p:cNvSpPr txBox="1"/>
          <p:nvPr/>
        </p:nvSpPr>
        <p:spPr>
          <a:xfrm>
            <a:off x="2953512" y="3703320"/>
            <a:ext cx="1728216" cy="1920240"/>
          </a:xfrm>
          <a:prstGeom prst="rect">
            <a:avLst/>
          </a:prstGeom>
          <a:noFill/>
          <a:ln/>
        </p:spPr>
        <p:txBody>
          <a:bodyPr wrap="square" lIns="0" tIns="0" rIns="0" bIns="0" rtlCol="0" anchor="t"/>
          <a:lstStyle/>
          <a:p>
            <a:pPr algn="l" indent="0" marL="0">
              <a:buNone/>
            </a:pPr>
            <a:r>
              <a:rPr lang="en-US" sz="950" dirty="0">
                <a:solidFill>
                  <a:srgbClr val="CADCFC"/>
                </a:solidFill>
                <a:latin typeface="Calibri" pitchFamily="34" charset="0"/>
                <a:ea typeface="Calibri" pitchFamily="34" charset="-122"/>
                <a:cs typeface="Calibri" pitchFamily="34" charset="-120"/>
              </a:rPr>
              <a:t>Derives URL, domain, content, and behavioral features (length, SSL status, domain age, hidden elements, etc.) for every sample.</a:t>
            </a:r>
            <a:endParaRPr lang="en-US" sz="950" dirty="0"/>
          </a:p>
        </p:txBody>
      </p:sp>
      <p:sp>
        <p:nvSpPr>
          <p:cNvPr id="13" name="Shape 11"/>
          <p:cNvSpPr/>
          <p:nvPr/>
        </p:nvSpPr>
        <p:spPr>
          <a:xfrm>
            <a:off x="5029200" y="1600200"/>
            <a:ext cx="2057400" cy="4206240"/>
          </a:xfrm>
          <a:prstGeom prst="roundRect">
            <a:avLst>
              <a:gd name="adj" fmla="val 4000"/>
            </a:avLst>
          </a:prstGeom>
          <a:solidFill>
            <a:srgbClr val="0B1F3A"/>
          </a:solidFill>
          <a:ln/>
        </p:spPr>
      </p:sp>
      <p:sp>
        <p:nvSpPr>
          <p:cNvPr id="14" name="Shape 12"/>
          <p:cNvSpPr/>
          <p:nvPr/>
        </p:nvSpPr>
        <p:spPr>
          <a:xfrm>
            <a:off x="5737860" y="1920240"/>
            <a:ext cx="640080" cy="640080"/>
          </a:xfrm>
          <a:prstGeom prst="ellipse">
            <a:avLst/>
          </a:prstGeom>
          <a:solidFill>
            <a:srgbClr val="00B4D8"/>
          </a:solidFill>
          <a:ln/>
        </p:spPr>
      </p:sp>
      <p:sp>
        <p:nvSpPr>
          <p:cNvPr id="15" name="Text 13"/>
          <p:cNvSpPr txBox="1"/>
          <p:nvPr/>
        </p:nvSpPr>
        <p:spPr>
          <a:xfrm>
            <a:off x="5737860" y="1920240"/>
            <a:ext cx="640080" cy="640080"/>
          </a:xfrm>
          <a:prstGeom prst="rect">
            <a:avLst/>
          </a:prstGeom>
          <a:noFill/>
          <a:ln/>
        </p:spPr>
        <p:txBody>
          <a:bodyPr wrap="square" lIns="0" tIns="0" rIns="0" bIns="0" rtlCol="0" anchor="ctr"/>
          <a:lstStyle/>
          <a:p>
            <a:pPr algn="ctr" indent="0" marL="0">
              <a:buNone/>
            </a:pPr>
            <a:r>
              <a:rPr lang="en-US" sz="1600" b="1" dirty="0">
                <a:solidFill>
                  <a:srgbClr val="0B1F3A"/>
                </a:solidFill>
                <a:latin typeface="Cambria" pitchFamily="34" charset="0"/>
                <a:ea typeface="Cambria" pitchFamily="34" charset="-122"/>
                <a:cs typeface="Cambria" pitchFamily="34" charset="-120"/>
              </a:rPr>
              <a:t>M3</a:t>
            </a:r>
            <a:endParaRPr lang="en-US" sz="1600" dirty="0"/>
          </a:p>
        </p:txBody>
      </p:sp>
      <p:sp>
        <p:nvSpPr>
          <p:cNvPr id="16" name="Text 14"/>
          <p:cNvSpPr txBox="1"/>
          <p:nvPr/>
        </p:nvSpPr>
        <p:spPr>
          <a:xfrm>
            <a:off x="5193792" y="2788920"/>
            <a:ext cx="1728216" cy="868680"/>
          </a:xfrm>
          <a:prstGeom prst="rect">
            <a:avLst/>
          </a:prstGeom>
          <a:noFill/>
          <a:ln/>
        </p:spPr>
        <p:txBody>
          <a:bodyPr wrap="square" lIns="0" tIns="0" rIns="0" bIns="0" rtlCol="0" anchor="t"/>
          <a:lstStyle/>
          <a:p>
            <a:pPr algn="ctr" indent="0" marL="0">
              <a:buNone/>
            </a:pPr>
            <a:r>
              <a:rPr lang="en-US" sz="1250" b="1" dirty="0">
                <a:solidFill>
                  <a:srgbClr val="FFFFFF"/>
                </a:solidFill>
                <a:latin typeface="Cambria" pitchFamily="34" charset="0"/>
                <a:ea typeface="Cambria" pitchFamily="34" charset="-122"/>
                <a:cs typeface="Cambria" pitchFamily="34" charset="-120"/>
              </a:rPr>
              <a:t>Model Training &amp; Evaluation</a:t>
            </a:r>
            <a:endParaRPr lang="en-US" sz="1250" dirty="0"/>
          </a:p>
        </p:txBody>
      </p:sp>
      <p:sp>
        <p:nvSpPr>
          <p:cNvPr id="17" name="Text 15"/>
          <p:cNvSpPr txBox="1"/>
          <p:nvPr/>
        </p:nvSpPr>
        <p:spPr>
          <a:xfrm>
            <a:off x="5193792" y="3703320"/>
            <a:ext cx="1728216" cy="1920240"/>
          </a:xfrm>
          <a:prstGeom prst="rect">
            <a:avLst/>
          </a:prstGeom>
          <a:noFill/>
          <a:ln/>
        </p:spPr>
        <p:txBody>
          <a:bodyPr wrap="square" lIns="0" tIns="0" rIns="0" bIns="0" rtlCol="0" anchor="t"/>
          <a:lstStyle/>
          <a:p>
            <a:pPr algn="l" indent="0" marL="0">
              <a:buNone/>
            </a:pPr>
            <a:r>
              <a:rPr lang="en-US" sz="950" dirty="0">
                <a:solidFill>
                  <a:srgbClr val="CADCFC"/>
                </a:solidFill>
                <a:latin typeface="Calibri" pitchFamily="34" charset="0"/>
                <a:ea typeface="Calibri" pitchFamily="34" charset="-122"/>
                <a:cs typeface="Calibri" pitchFamily="34" charset="-120"/>
              </a:rPr>
              <a:t>Trains candidate ML/DL algorithms, tunes hyperparameters, and evaluates them with accuracy, precision, recall, and F1-score.</a:t>
            </a:r>
            <a:endParaRPr lang="en-US" sz="950" dirty="0"/>
          </a:p>
        </p:txBody>
      </p:sp>
      <p:sp>
        <p:nvSpPr>
          <p:cNvPr id="18" name="Shape 16"/>
          <p:cNvSpPr/>
          <p:nvPr/>
        </p:nvSpPr>
        <p:spPr>
          <a:xfrm>
            <a:off x="7269480" y="1600200"/>
            <a:ext cx="2057400" cy="4206240"/>
          </a:xfrm>
          <a:prstGeom prst="roundRect">
            <a:avLst>
              <a:gd name="adj" fmla="val 4000"/>
            </a:avLst>
          </a:prstGeom>
          <a:solidFill>
            <a:srgbClr val="1C3F66"/>
          </a:solidFill>
          <a:ln/>
        </p:spPr>
      </p:sp>
      <p:sp>
        <p:nvSpPr>
          <p:cNvPr id="19" name="Shape 17"/>
          <p:cNvSpPr/>
          <p:nvPr/>
        </p:nvSpPr>
        <p:spPr>
          <a:xfrm>
            <a:off x="7978140" y="1920240"/>
            <a:ext cx="640080" cy="640080"/>
          </a:xfrm>
          <a:prstGeom prst="ellipse">
            <a:avLst/>
          </a:prstGeom>
          <a:solidFill>
            <a:srgbClr val="00B4D8"/>
          </a:solidFill>
          <a:ln/>
        </p:spPr>
      </p:sp>
      <p:sp>
        <p:nvSpPr>
          <p:cNvPr id="20" name="Text 18"/>
          <p:cNvSpPr txBox="1"/>
          <p:nvPr/>
        </p:nvSpPr>
        <p:spPr>
          <a:xfrm>
            <a:off x="7978140" y="1920240"/>
            <a:ext cx="640080" cy="640080"/>
          </a:xfrm>
          <a:prstGeom prst="rect">
            <a:avLst/>
          </a:prstGeom>
          <a:noFill/>
          <a:ln/>
        </p:spPr>
        <p:txBody>
          <a:bodyPr wrap="square" lIns="0" tIns="0" rIns="0" bIns="0" rtlCol="0" anchor="ctr"/>
          <a:lstStyle/>
          <a:p>
            <a:pPr algn="ctr" indent="0" marL="0">
              <a:buNone/>
            </a:pPr>
            <a:r>
              <a:rPr lang="en-US" sz="1600" b="1" dirty="0">
                <a:solidFill>
                  <a:srgbClr val="0B1F3A"/>
                </a:solidFill>
                <a:latin typeface="Cambria" pitchFamily="34" charset="0"/>
                <a:ea typeface="Cambria" pitchFamily="34" charset="-122"/>
                <a:cs typeface="Cambria" pitchFamily="34" charset="-120"/>
              </a:rPr>
              <a:t>M4</a:t>
            </a:r>
            <a:endParaRPr lang="en-US" sz="1600" dirty="0"/>
          </a:p>
        </p:txBody>
      </p:sp>
      <p:sp>
        <p:nvSpPr>
          <p:cNvPr id="21" name="Text 19"/>
          <p:cNvSpPr txBox="1"/>
          <p:nvPr/>
        </p:nvSpPr>
        <p:spPr>
          <a:xfrm>
            <a:off x="7434072" y="2788920"/>
            <a:ext cx="1728216" cy="868680"/>
          </a:xfrm>
          <a:prstGeom prst="rect">
            <a:avLst/>
          </a:prstGeom>
          <a:noFill/>
          <a:ln/>
        </p:spPr>
        <p:txBody>
          <a:bodyPr wrap="square" lIns="0" tIns="0" rIns="0" bIns="0" rtlCol="0" anchor="t"/>
          <a:lstStyle/>
          <a:p>
            <a:pPr algn="ctr" indent="0" marL="0">
              <a:buNone/>
            </a:pPr>
            <a:r>
              <a:rPr lang="en-US" sz="1250" b="1" dirty="0">
                <a:solidFill>
                  <a:srgbClr val="FFFFFF"/>
                </a:solidFill>
                <a:latin typeface="Cambria" pitchFamily="34" charset="0"/>
                <a:ea typeface="Cambria" pitchFamily="34" charset="-122"/>
                <a:cs typeface="Cambria" pitchFamily="34" charset="-120"/>
              </a:rPr>
              <a:t>Detection / Classification Engine</a:t>
            </a:r>
            <a:endParaRPr lang="en-US" sz="1250" dirty="0"/>
          </a:p>
        </p:txBody>
      </p:sp>
      <p:sp>
        <p:nvSpPr>
          <p:cNvPr id="22" name="Text 20"/>
          <p:cNvSpPr txBox="1"/>
          <p:nvPr/>
        </p:nvSpPr>
        <p:spPr>
          <a:xfrm>
            <a:off x="7434072" y="3703320"/>
            <a:ext cx="1728216" cy="1920240"/>
          </a:xfrm>
          <a:prstGeom prst="rect">
            <a:avLst/>
          </a:prstGeom>
          <a:noFill/>
          <a:ln/>
        </p:spPr>
        <p:txBody>
          <a:bodyPr wrap="square" lIns="0" tIns="0" rIns="0" bIns="0" rtlCol="0" anchor="t"/>
          <a:lstStyle/>
          <a:p>
            <a:pPr algn="l" indent="0" marL="0">
              <a:buNone/>
            </a:pPr>
            <a:r>
              <a:rPr lang="en-US" sz="950" dirty="0">
                <a:solidFill>
                  <a:srgbClr val="CADCFC"/>
                </a:solidFill>
                <a:latin typeface="Calibri" pitchFamily="34" charset="0"/>
                <a:ea typeface="Calibri" pitchFamily="34" charset="-122"/>
                <a:cs typeface="Calibri" pitchFamily="34" charset="-120"/>
              </a:rPr>
              <a:t>The deployed best-performing model that classifies a new, unseen URL as phishing or legitimate in real time.</a:t>
            </a:r>
            <a:endParaRPr lang="en-US" sz="950" dirty="0"/>
          </a:p>
        </p:txBody>
      </p:sp>
      <p:sp>
        <p:nvSpPr>
          <p:cNvPr id="23" name="Shape 21"/>
          <p:cNvSpPr/>
          <p:nvPr/>
        </p:nvSpPr>
        <p:spPr>
          <a:xfrm>
            <a:off x="9509760" y="1600200"/>
            <a:ext cx="2057400" cy="4206240"/>
          </a:xfrm>
          <a:prstGeom prst="roundRect">
            <a:avLst>
              <a:gd name="adj" fmla="val 4000"/>
            </a:avLst>
          </a:prstGeom>
          <a:solidFill>
            <a:srgbClr val="0B1F3A"/>
          </a:solidFill>
          <a:ln/>
        </p:spPr>
      </p:sp>
      <p:sp>
        <p:nvSpPr>
          <p:cNvPr id="24" name="Shape 22"/>
          <p:cNvSpPr/>
          <p:nvPr/>
        </p:nvSpPr>
        <p:spPr>
          <a:xfrm>
            <a:off x="10218420" y="1920240"/>
            <a:ext cx="640080" cy="640080"/>
          </a:xfrm>
          <a:prstGeom prst="ellipse">
            <a:avLst/>
          </a:prstGeom>
          <a:solidFill>
            <a:srgbClr val="00B4D8"/>
          </a:solidFill>
          <a:ln/>
        </p:spPr>
      </p:sp>
      <p:sp>
        <p:nvSpPr>
          <p:cNvPr id="25" name="Text 23"/>
          <p:cNvSpPr txBox="1"/>
          <p:nvPr/>
        </p:nvSpPr>
        <p:spPr>
          <a:xfrm>
            <a:off x="10218420" y="1920240"/>
            <a:ext cx="640080" cy="640080"/>
          </a:xfrm>
          <a:prstGeom prst="rect">
            <a:avLst/>
          </a:prstGeom>
          <a:noFill/>
          <a:ln/>
        </p:spPr>
        <p:txBody>
          <a:bodyPr wrap="square" lIns="0" tIns="0" rIns="0" bIns="0" rtlCol="0" anchor="ctr"/>
          <a:lstStyle/>
          <a:p>
            <a:pPr algn="ctr" indent="0" marL="0">
              <a:buNone/>
            </a:pPr>
            <a:r>
              <a:rPr lang="en-US" sz="1600" b="1" dirty="0">
                <a:solidFill>
                  <a:srgbClr val="0B1F3A"/>
                </a:solidFill>
                <a:latin typeface="Cambria" pitchFamily="34" charset="0"/>
                <a:ea typeface="Cambria" pitchFamily="34" charset="-122"/>
                <a:cs typeface="Cambria" pitchFamily="34" charset="-120"/>
              </a:rPr>
              <a:t>M5</a:t>
            </a:r>
            <a:endParaRPr lang="en-US" sz="1600" dirty="0"/>
          </a:p>
        </p:txBody>
      </p:sp>
      <p:sp>
        <p:nvSpPr>
          <p:cNvPr id="26" name="Text 24"/>
          <p:cNvSpPr txBox="1"/>
          <p:nvPr/>
        </p:nvSpPr>
        <p:spPr>
          <a:xfrm>
            <a:off x="9674352" y="2788920"/>
            <a:ext cx="1728216" cy="868680"/>
          </a:xfrm>
          <a:prstGeom prst="rect">
            <a:avLst/>
          </a:prstGeom>
          <a:noFill/>
          <a:ln/>
        </p:spPr>
        <p:txBody>
          <a:bodyPr wrap="square" lIns="0" tIns="0" rIns="0" bIns="0" rtlCol="0" anchor="t"/>
          <a:lstStyle/>
          <a:p>
            <a:pPr algn="ctr" indent="0" marL="0">
              <a:buNone/>
            </a:pPr>
            <a:r>
              <a:rPr lang="en-US" sz="1250" b="1" dirty="0">
                <a:solidFill>
                  <a:srgbClr val="FFFFFF"/>
                </a:solidFill>
                <a:latin typeface="Cambria" pitchFamily="34" charset="0"/>
                <a:ea typeface="Cambria" pitchFamily="34" charset="-122"/>
                <a:cs typeface="Cambria" pitchFamily="34" charset="-120"/>
              </a:rPr>
              <a:t>User Interface &amp; Alert System</a:t>
            </a:r>
            <a:endParaRPr lang="en-US" sz="1250" dirty="0"/>
          </a:p>
        </p:txBody>
      </p:sp>
      <p:sp>
        <p:nvSpPr>
          <p:cNvPr id="27" name="Text 25"/>
          <p:cNvSpPr txBox="1"/>
          <p:nvPr/>
        </p:nvSpPr>
        <p:spPr>
          <a:xfrm>
            <a:off x="9674352" y="3703320"/>
            <a:ext cx="1728216" cy="1920240"/>
          </a:xfrm>
          <a:prstGeom prst="rect">
            <a:avLst/>
          </a:prstGeom>
          <a:noFill/>
          <a:ln/>
        </p:spPr>
        <p:txBody>
          <a:bodyPr wrap="square" lIns="0" tIns="0" rIns="0" bIns="0" rtlCol="0" anchor="t"/>
          <a:lstStyle/>
          <a:p>
            <a:pPr algn="l" indent="0" marL="0">
              <a:buNone/>
            </a:pPr>
            <a:r>
              <a:rPr lang="en-US" sz="950" dirty="0">
                <a:solidFill>
                  <a:srgbClr val="CADCFC"/>
                </a:solidFill>
                <a:latin typeface="Calibri" pitchFamily="34" charset="0"/>
                <a:ea typeface="Calibri" pitchFamily="34" charset="-122"/>
                <a:cs typeface="Calibri" pitchFamily="34" charset="-120"/>
              </a:rPr>
              <a:t>Web dashboard and browser extension that surface real-time warnings, logs, and detection history to the end user.</a:t>
            </a:r>
            <a:endParaRPr lang="en-US" sz="950" dirty="0"/>
          </a:p>
        </p:txBody>
      </p:sp>
      <p:sp>
        <p:nvSpPr>
          <p:cNvPr id="28" name="Text 26"/>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A9BB0"/>
                </a:solidFill>
                <a:latin typeface="Calibri" pitchFamily="34" charset="0"/>
                <a:ea typeface="Calibri" pitchFamily="34" charset="-122"/>
                <a:cs typeface="Calibri" pitchFamily="34" charset="-120"/>
              </a:rPr>
              <a:t>Phishing Website Detection Using Machine Learning</a:t>
            </a:r>
            <a:endParaRPr lang="en-US" sz="900" dirty="0"/>
          </a:p>
        </p:txBody>
      </p:sp>
      <p:sp>
        <p:nvSpPr>
          <p:cNvPr id="29" name="Text 27"/>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502920"/>
            <a:ext cx="10515600" cy="548640"/>
          </a:xfrm>
          <a:prstGeom prst="rect">
            <a:avLst/>
          </a:prstGeom>
          <a:noFill/>
          <a:ln/>
        </p:spPr>
        <p:txBody>
          <a:bodyPr wrap="square" rtlCol="0"/>
          <a:lstStyle/>
          <a:p>
            <a:pPr algn="l" indent="0" marL="0">
              <a:buNone/>
            </a:pPr>
            <a:r>
              <a:rPr lang="en-US" sz="3000" b="1" dirty="0">
                <a:solidFill>
                  <a:srgbClr val="0B1F3A"/>
                </a:solidFill>
                <a:latin typeface="Cambria" pitchFamily="34" charset="0"/>
                <a:ea typeface="Cambria" pitchFamily="34" charset="-122"/>
                <a:cs typeface="Cambria" pitchFamily="34" charset="-120"/>
              </a:rPr>
              <a:t>CONCLUSION</a:t>
            </a:r>
            <a:endParaRPr lang="en-US" sz="3000" dirty="0"/>
          </a:p>
        </p:txBody>
      </p:sp>
      <p:sp>
        <p:nvSpPr>
          <p:cNvPr id="3" name="Shape 1"/>
          <p:cNvSpPr/>
          <p:nvPr/>
        </p:nvSpPr>
        <p:spPr>
          <a:xfrm>
            <a:off x="548640" y="1463040"/>
            <a:ext cx="11064240" cy="896112"/>
          </a:xfrm>
          <a:prstGeom prst="roundRect">
            <a:avLst>
              <a:gd name="adj" fmla="val 7143"/>
            </a:avLst>
          </a:prstGeom>
          <a:solidFill>
            <a:srgbClr val="EAF2FA"/>
          </a:solidFill>
          <a:ln/>
        </p:spPr>
      </p:sp>
      <p:sp>
        <p:nvSpPr>
          <p:cNvPr id="4" name="Shape 2"/>
          <p:cNvSpPr/>
          <p:nvPr/>
        </p:nvSpPr>
        <p:spPr>
          <a:xfrm>
            <a:off x="749808" y="1682496"/>
            <a:ext cx="457200" cy="457200"/>
          </a:xfrm>
          <a:prstGeom prst="ellipse">
            <a:avLst/>
          </a:prstGeom>
          <a:solidFill>
            <a:srgbClr val="00B4D8"/>
          </a:solidFill>
          <a:ln/>
        </p:spPr>
      </p:sp>
      <p:sp>
        <p:nvSpPr>
          <p:cNvPr id="5" name="Text 3"/>
          <p:cNvSpPr txBox="1"/>
          <p:nvPr/>
        </p:nvSpPr>
        <p:spPr>
          <a:xfrm>
            <a:off x="749808" y="168249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txBox="1"/>
          <p:nvPr/>
        </p:nvSpPr>
        <p:spPr>
          <a:xfrm>
            <a:off x="1417320" y="1536192"/>
            <a:ext cx="9966960" cy="749808"/>
          </a:xfrm>
          <a:prstGeom prst="rect">
            <a:avLst/>
          </a:prstGeom>
          <a:noFill/>
          <a:ln/>
        </p:spPr>
        <p:txBody>
          <a:bodyPr wrap="square" lIns="0" tIns="0" rIns="0" bIns="0" rtlCol="0" anchor="ctr"/>
          <a:lstStyle/>
          <a:p>
            <a:pPr indent="0" marL="0">
              <a:buNone/>
            </a:pPr>
            <a:r>
              <a:rPr lang="en-US" sz="1100" dirty="0">
                <a:solidFill>
                  <a:srgbClr val="14314F"/>
                </a:solidFill>
                <a:latin typeface="Calibri" pitchFamily="34" charset="0"/>
                <a:ea typeface="Calibri" pitchFamily="34" charset="-122"/>
                <a:cs typeface="Calibri" pitchFamily="34" charset="-120"/>
              </a:rPr>
              <a:t>Machine learning substantially outperforms traditional blacklist and rule-based approaches for phishing website detection, adapting to new attack patterns without manual rule updates.</a:t>
            </a:r>
            <a:endParaRPr lang="en-US" sz="1100" dirty="0"/>
          </a:p>
        </p:txBody>
      </p:sp>
      <p:sp>
        <p:nvSpPr>
          <p:cNvPr id="7" name="Shape 5"/>
          <p:cNvSpPr/>
          <p:nvPr/>
        </p:nvSpPr>
        <p:spPr>
          <a:xfrm>
            <a:off x="548640" y="2468880"/>
            <a:ext cx="11064240" cy="896112"/>
          </a:xfrm>
          <a:prstGeom prst="roundRect">
            <a:avLst>
              <a:gd name="adj" fmla="val 7143"/>
            </a:avLst>
          </a:prstGeom>
          <a:solidFill>
            <a:srgbClr val="EAF2FA"/>
          </a:solidFill>
          <a:ln/>
        </p:spPr>
      </p:sp>
      <p:sp>
        <p:nvSpPr>
          <p:cNvPr id="8" name="Shape 6"/>
          <p:cNvSpPr/>
          <p:nvPr/>
        </p:nvSpPr>
        <p:spPr>
          <a:xfrm>
            <a:off x="749808" y="2688336"/>
            <a:ext cx="457200" cy="457200"/>
          </a:xfrm>
          <a:prstGeom prst="ellipse">
            <a:avLst/>
          </a:prstGeom>
          <a:solidFill>
            <a:srgbClr val="00B4D8"/>
          </a:solidFill>
          <a:ln/>
        </p:spPr>
      </p:sp>
      <p:sp>
        <p:nvSpPr>
          <p:cNvPr id="9" name="Text 7"/>
          <p:cNvSpPr txBox="1"/>
          <p:nvPr/>
        </p:nvSpPr>
        <p:spPr>
          <a:xfrm>
            <a:off x="749808" y="268833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txBox="1"/>
          <p:nvPr/>
        </p:nvSpPr>
        <p:spPr>
          <a:xfrm>
            <a:off x="1417320" y="2542032"/>
            <a:ext cx="9966960" cy="749808"/>
          </a:xfrm>
          <a:prstGeom prst="rect">
            <a:avLst/>
          </a:prstGeom>
          <a:noFill/>
          <a:ln/>
        </p:spPr>
        <p:txBody>
          <a:bodyPr wrap="square" lIns="0" tIns="0" rIns="0" bIns="0" rtlCol="0" anchor="ctr"/>
          <a:lstStyle/>
          <a:p>
            <a:pPr indent="0" marL="0">
              <a:buNone/>
            </a:pPr>
            <a:r>
              <a:rPr lang="en-US" sz="1100" dirty="0">
                <a:solidFill>
                  <a:srgbClr val="14314F"/>
                </a:solidFill>
                <a:latin typeface="Calibri" pitchFamily="34" charset="0"/>
                <a:ea typeface="Calibri" pitchFamily="34" charset="-122"/>
                <a:cs typeface="Calibri" pitchFamily="34" charset="-120"/>
              </a:rPr>
              <a:t>Across the literature reviewed (2023-2026), ensemble methods (Random Forest, XGBoost, stacked ensembles) and hybrid deep learning models (CNN-LSTM, Bi-LSTM) consistently achieve the highest reported accuracy, often 97-99%.</a:t>
            </a:r>
            <a:endParaRPr lang="en-US" sz="1100" dirty="0"/>
          </a:p>
        </p:txBody>
      </p:sp>
      <p:sp>
        <p:nvSpPr>
          <p:cNvPr id="11" name="Shape 9"/>
          <p:cNvSpPr/>
          <p:nvPr/>
        </p:nvSpPr>
        <p:spPr>
          <a:xfrm>
            <a:off x="548640" y="3474720"/>
            <a:ext cx="11064240" cy="896112"/>
          </a:xfrm>
          <a:prstGeom prst="roundRect">
            <a:avLst>
              <a:gd name="adj" fmla="val 7143"/>
            </a:avLst>
          </a:prstGeom>
          <a:solidFill>
            <a:srgbClr val="EAF2FA"/>
          </a:solidFill>
          <a:ln/>
        </p:spPr>
      </p:sp>
      <p:sp>
        <p:nvSpPr>
          <p:cNvPr id="12" name="Shape 10"/>
          <p:cNvSpPr/>
          <p:nvPr/>
        </p:nvSpPr>
        <p:spPr>
          <a:xfrm>
            <a:off x="749808" y="3694176"/>
            <a:ext cx="457200" cy="457200"/>
          </a:xfrm>
          <a:prstGeom prst="ellipse">
            <a:avLst/>
          </a:prstGeom>
          <a:solidFill>
            <a:srgbClr val="00B4D8"/>
          </a:solidFill>
          <a:ln/>
        </p:spPr>
      </p:sp>
      <p:sp>
        <p:nvSpPr>
          <p:cNvPr id="13" name="Text 11"/>
          <p:cNvSpPr txBox="1"/>
          <p:nvPr/>
        </p:nvSpPr>
        <p:spPr>
          <a:xfrm>
            <a:off x="749808" y="36941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2"/>
          <p:cNvSpPr txBox="1"/>
          <p:nvPr/>
        </p:nvSpPr>
        <p:spPr>
          <a:xfrm>
            <a:off x="1417320" y="3547872"/>
            <a:ext cx="9966960" cy="749808"/>
          </a:xfrm>
          <a:prstGeom prst="rect">
            <a:avLst/>
          </a:prstGeom>
          <a:noFill/>
          <a:ln/>
        </p:spPr>
        <p:txBody>
          <a:bodyPr wrap="square" lIns="0" tIns="0" rIns="0" bIns="0" rtlCol="0" anchor="ctr"/>
          <a:lstStyle/>
          <a:p>
            <a:pPr indent="0" marL="0">
              <a:buNone/>
            </a:pPr>
            <a:r>
              <a:rPr lang="en-US" sz="1100" dirty="0">
                <a:solidFill>
                  <a:srgbClr val="14314F"/>
                </a:solidFill>
                <a:latin typeface="Calibri" pitchFamily="34" charset="0"/>
                <a:ea typeface="Calibri" pitchFamily="34" charset="-122"/>
                <a:cs typeface="Calibri" pitchFamily="34" charset="-120"/>
              </a:rPr>
              <a:t>A Random Forest / XGBoost-based pipeline offers the best balance of accuracy, speed, and interpretability for a deployable, real-time system; deep learning adds further robustness against zero-day phishing URLs.</a:t>
            </a:r>
            <a:endParaRPr lang="en-US" sz="1100" dirty="0"/>
          </a:p>
        </p:txBody>
      </p:sp>
      <p:sp>
        <p:nvSpPr>
          <p:cNvPr id="15" name="Shape 13"/>
          <p:cNvSpPr/>
          <p:nvPr/>
        </p:nvSpPr>
        <p:spPr>
          <a:xfrm>
            <a:off x="548640" y="4480560"/>
            <a:ext cx="11064240" cy="896112"/>
          </a:xfrm>
          <a:prstGeom prst="roundRect">
            <a:avLst>
              <a:gd name="adj" fmla="val 7143"/>
            </a:avLst>
          </a:prstGeom>
          <a:solidFill>
            <a:srgbClr val="EAF2FA"/>
          </a:solidFill>
          <a:ln/>
        </p:spPr>
      </p:sp>
      <p:sp>
        <p:nvSpPr>
          <p:cNvPr id="16" name="Shape 14"/>
          <p:cNvSpPr/>
          <p:nvPr/>
        </p:nvSpPr>
        <p:spPr>
          <a:xfrm>
            <a:off x="749808" y="4700016"/>
            <a:ext cx="457200" cy="457200"/>
          </a:xfrm>
          <a:prstGeom prst="ellipse">
            <a:avLst/>
          </a:prstGeom>
          <a:solidFill>
            <a:srgbClr val="00B4D8"/>
          </a:solidFill>
          <a:ln/>
        </p:spPr>
      </p:sp>
      <p:sp>
        <p:nvSpPr>
          <p:cNvPr id="17" name="Text 15"/>
          <p:cNvSpPr txBox="1"/>
          <p:nvPr/>
        </p:nvSpPr>
        <p:spPr>
          <a:xfrm>
            <a:off x="749808" y="47000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8" name="Text 16"/>
          <p:cNvSpPr txBox="1"/>
          <p:nvPr/>
        </p:nvSpPr>
        <p:spPr>
          <a:xfrm>
            <a:off x="1417320" y="4553712"/>
            <a:ext cx="9966960" cy="749808"/>
          </a:xfrm>
          <a:prstGeom prst="rect">
            <a:avLst/>
          </a:prstGeom>
          <a:noFill/>
          <a:ln/>
        </p:spPr>
        <p:txBody>
          <a:bodyPr wrap="square" lIns="0" tIns="0" rIns="0" bIns="0" rtlCol="0" anchor="ctr"/>
          <a:lstStyle/>
          <a:p>
            <a:pPr indent="0" marL="0">
              <a:buNone/>
            </a:pPr>
            <a:r>
              <a:rPr lang="en-US" sz="1100" dirty="0">
                <a:solidFill>
                  <a:srgbClr val="14314F"/>
                </a:solidFill>
                <a:latin typeface="Calibri" pitchFamily="34" charset="0"/>
                <a:ea typeface="Calibri" pitchFamily="34" charset="-122"/>
                <a:cs typeface="Calibri" pitchFamily="34" charset="-120"/>
              </a:rPr>
              <a:t>The proposed five-module system — from data collection through to a real-time alert interface — provides a practical, end-to-end blueprint for protecting users in browsers and email gateways.</a:t>
            </a:r>
            <a:endParaRPr lang="en-US" sz="1100" dirty="0"/>
          </a:p>
        </p:txBody>
      </p:sp>
      <p:sp>
        <p:nvSpPr>
          <p:cNvPr id="19" name="Shape 17"/>
          <p:cNvSpPr/>
          <p:nvPr/>
        </p:nvSpPr>
        <p:spPr>
          <a:xfrm>
            <a:off x="548640" y="5486400"/>
            <a:ext cx="11064240" cy="896112"/>
          </a:xfrm>
          <a:prstGeom prst="roundRect">
            <a:avLst>
              <a:gd name="adj" fmla="val 7143"/>
            </a:avLst>
          </a:prstGeom>
          <a:solidFill>
            <a:srgbClr val="EAF2FA"/>
          </a:solidFill>
          <a:ln/>
        </p:spPr>
      </p:sp>
      <p:sp>
        <p:nvSpPr>
          <p:cNvPr id="20" name="Shape 18"/>
          <p:cNvSpPr/>
          <p:nvPr/>
        </p:nvSpPr>
        <p:spPr>
          <a:xfrm>
            <a:off x="749808" y="5705856"/>
            <a:ext cx="457200" cy="457200"/>
          </a:xfrm>
          <a:prstGeom prst="ellipse">
            <a:avLst/>
          </a:prstGeom>
          <a:solidFill>
            <a:srgbClr val="00B4D8"/>
          </a:solidFill>
          <a:ln/>
        </p:spPr>
      </p:sp>
      <p:sp>
        <p:nvSpPr>
          <p:cNvPr id="21" name="Text 19"/>
          <p:cNvSpPr txBox="1"/>
          <p:nvPr/>
        </p:nvSpPr>
        <p:spPr>
          <a:xfrm>
            <a:off x="749808" y="57058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22" name="Text 20"/>
          <p:cNvSpPr txBox="1"/>
          <p:nvPr/>
        </p:nvSpPr>
        <p:spPr>
          <a:xfrm>
            <a:off x="1417320" y="5559552"/>
            <a:ext cx="9966960" cy="749808"/>
          </a:xfrm>
          <a:prstGeom prst="rect">
            <a:avLst/>
          </a:prstGeom>
          <a:noFill/>
          <a:ln/>
        </p:spPr>
        <p:txBody>
          <a:bodyPr wrap="square" lIns="0" tIns="0" rIns="0" bIns="0" rtlCol="0" anchor="ctr"/>
          <a:lstStyle/>
          <a:p>
            <a:pPr indent="0" marL="0">
              <a:buNone/>
            </a:pPr>
            <a:r>
              <a:rPr lang="en-US" sz="1100" dirty="0">
                <a:solidFill>
                  <a:srgbClr val="14314F"/>
                </a:solidFill>
                <a:latin typeface="Calibri" pitchFamily="34" charset="0"/>
                <a:ea typeface="Calibri" pitchFamily="34" charset="-122"/>
                <a:cs typeface="Calibri" pitchFamily="34" charset="-120"/>
              </a:rPr>
              <a:t>Future work: adversarial robustness testing, continuous retraining on live threat feeds, and expanding detection to multilingual and visually-cloned phishing pages.</a:t>
            </a:r>
            <a:endParaRPr lang="en-US" sz="1100" dirty="0"/>
          </a:p>
        </p:txBody>
      </p:sp>
      <p:sp>
        <p:nvSpPr>
          <p:cNvPr id="23" name="Text 21"/>
          <p:cNvSpPr txBox="1"/>
          <p:nvPr/>
        </p:nvSpPr>
        <p:spPr>
          <a:xfrm>
            <a:off x="457200" y="6510528"/>
            <a:ext cx="7315200" cy="274320"/>
          </a:xfrm>
          <a:prstGeom prst="rect">
            <a:avLst/>
          </a:prstGeom>
          <a:noFill/>
          <a:ln/>
        </p:spPr>
        <p:txBody>
          <a:bodyPr wrap="square" lIns="0" tIns="0" rIns="0" bIns="0" rtlCol="0" anchor="ctr"/>
          <a:lstStyle/>
          <a:p>
            <a:pPr indent="0" marL="0">
              <a:buNone/>
            </a:pPr>
            <a:r>
              <a:rPr lang="en-US" sz="900" dirty="0">
                <a:solidFill>
                  <a:srgbClr val="8A9BB0"/>
                </a:solidFill>
                <a:latin typeface="Calibri" pitchFamily="34" charset="0"/>
                <a:ea typeface="Calibri" pitchFamily="34" charset="-122"/>
                <a:cs typeface="Calibri" pitchFamily="34" charset="-120"/>
              </a:rPr>
              <a:t>Phishing Website Detection Using Machine Learning</a:t>
            </a:r>
            <a:endParaRPr lang="en-US" sz="900" dirty="0"/>
          </a:p>
        </p:txBody>
      </p:sp>
      <p:sp>
        <p:nvSpPr>
          <p:cNvPr id="24" name="Text 22"/>
          <p:cNvSpPr txBox="1"/>
          <p:nvPr/>
        </p:nvSpPr>
        <p:spPr>
          <a:xfrm>
            <a:off x="11521440" y="6510528"/>
            <a:ext cx="457200" cy="274320"/>
          </a:xfrm>
          <a:prstGeom prst="rect">
            <a:avLst/>
          </a:prstGeom>
          <a:noFill/>
          <a:ln/>
        </p:spPr>
        <p:txBody>
          <a:bodyPr wrap="square" lIns="0" tIns="0" rIns="0" bIns="0" rtlCol="0" anchor="ctr"/>
          <a:lstStyle/>
          <a:p>
            <a:pPr algn="r" indent="0" marL="0">
              <a:buNone/>
            </a:pPr>
            <a:r>
              <a:rPr lang="en-US" sz="900" dirty="0">
                <a:solidFill>
                  <a:srgbClr val="8A9BB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theme/theme1.xml><?xml version="1.0" encoding="utf-8"?>
<a:theme xmlns:a="http://schemas.openxmlformats.org/drawingml/2006/main" name="CyberNavy">
  <a:themeElements>
    <a:clrScheme name="CyberNavy">
      <a:dk1>
        <a:srgbClr val="0B1F3A"/>
      </a:dk1>
      <a:lt1>
        <a:srgbClr val="FFFFFF"/>
      </a:lt1>
      <a:dk2>
        <a:srgbClr val="14314F"/>
      </a:dk2>
      <a:lt2>
        <a:srgbClr val="EAF2FA"/>
      </a:lt2>
      <a:accent1>
        <a:srgbClr val="00B4D8"/>
      </a:accent1>
      <a:accent2>
        <a:srgbClr val="FF5A5F"/>
      </a:accent2>
      <a:accent3>
        <a:srgbClr val="0096C7"/>
      </a:accent3>
      <a:accent4>
        <a:srgbClr val="90E0EF"/>
      </a:accent4>
      <a:accent5>
        <a:srgbClr val="CADCFC"/>
      </a:accent5>
      <a:accent6>
        <a:srgbClr val="1C3F66"/>
      </a:accent6>
      <a:hlink>
        <a:srgbClr val="00B4D8"/>
      </a:hlink>
      <a:folHlink>
        <a:srgbClr val="0096C7"/>
      </a:folHlink>
    </a:clrScheme>
    <a:fontScheme name="CyberNavy">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Phishing Website Detection Using Machine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2026-10-04T11:18:24Z</dcterms:created>
  <dcterms:modified xsi:type="dcterms:W3CDTF">2026-10-04T11:18:24Z</dcterms:modified>
</cp:coreProperties>
</file>